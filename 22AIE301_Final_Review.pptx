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284C7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Proposed
(th=0.13)</c:v>
                </c:pt>
                <c:pt idx="1">
                  <c:v>Proposed
(th=0.50)</c:v>
                </c:pt>
                <c:pt idx="2">
                  <c:v>LightGBM</c:v>
                </c:pt>
                <c:pt idx="3">
                  <c:v>XGBoost</c:v>
                </c:pt>
                <c:pt idx="4">
                  <c:v>Random
Forest</c:v>
                </c:pt>
                <c:pt idx="5">
                  <c:v>TA-BiLSTM
(alone)</c:v>
                </c:pt>
                <c:pt idx="6">
                  <c:v>Logistic
Reg.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0.75680000000000003</c:v>
                </c:pt>
                <c:pt idx="1">
                  <c:v>0.26200000000000001</c:v>
                </c:pt>
                <c:pt idx="2">
                  <c:v>0.66800000000000004</c:v>
                </c:pt>
                <c:pt idx="3">
                  <c:v>0.65910000000000002</c:v>
                </c:pt>
                <c:pt idx="4">
                  <c:v>0.65200000000000002</c:v>
                </c:pt>
                <c:pt idx="5">
                  <c:v>0.33279999999999998</c:v>
                </c:pt>
                <c:pt idx="6">
                  <c:v>0.30420000000000003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248-45A5-8B32-AE72FE845C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Sensitivity</c:v>
                </c:pt>
              </c:strCache>
            </c:strRef>
          </c:tx>
          <c:spPr>
            <a:solidFill>
              <a:srgbClr val="D97706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Proposed
(th=0.13)</c:v>
                </c:pt>
                <c:pt idx="1">
                  <c:v>Proposed
(th=0.50)</c:v>
                </c:pt>
                <c:pt idx="2">
                  <c:v>LightGBM</c:v>
                </c:pt>
                <c:pt idx="3">
                  <c:v>XGBoost</c:v>
                </c:pt>
                <c:pt idx="4">
                  <c:v>Random
Forest</c:v>
                </c:pt>
                <c:pt idx="5">
                  <c:v>TA-BiLSTM
(alone)</c:v>
                </c:pt>
                <c:pt idx="6">
                  <c:v>Logistic
Reg.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0.7782</c:v>
                </c:pt>
                <c:pt idx="1">
                  <c:v>0.17249999999999999</c:v>
                </c:pt>
                <c:pt idx="2">
                  <c:v>0.74770000000000003</c:v>
                </c:pt>
                <c:pt idx="3">
                  <c:v>0.72270000000000001</c:v>
                </c:pt>
                <c:pt idx="4">
                  <c:v>0.60450000000000004</c:v>
                </c:pt>
                <c:pt idx="5">
                  <c:v>0.68179999999999996</c:v>
                </c:pt>
                <c:pt idx="6">
                  <c:v>0.69550000000000001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248-45A5-8B32-AE72FE845C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  <c:majorUnit val="0.25"/>
      </c:valAx>
    </c:plotArea>
    <c:legend>
      <c:legendPos val="b"/>
      <c:overlay val="0"/>
      <c:txPr>
        <a:bodyPr/>
        <a:lstStyle/>
        <a:p>
          <a:pPr>
            <a:defRPr sz="1100">
              <a:latin typeface="Arial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2C3E5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emulapoorna/sepsis-prediction-hybrid-model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731520"/>
            <a:ext cx="137160" cy="5303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10332720" cy="36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284C7"/>
                </a:solidFill>
                <a:latin typeface="Arial"/>
              </a:defRPr>
            </a:pPr>
            <a:r>
              <a:rPr sz="1200" b="1" dirty="0">
                <a:solidFill>
                  <a:srgbClr val="0284C7"/>
                </a:solidFill>
                <a:latin typeface="Arial"/>
              </a:rPr>
              <a:t>22AIE301 PROBABILISTIC REASONING — FINAL PROJECT REVIEW</a:t>
            </a:r>
          </a:p>
          <a:p>
            <a:pPr>
              <a:spcAft>
                <a:spcPts val="2000"/>
              </a:spcAft>
              <a:defRPr sz="3200" b="1">
                <a:solidFill>
                  <a:srgbClr val="FFFFFF"/>
                </a:solidFill>
                <a:latin typeface="Georgia"/>
              </a:defRPr>
            </a:pPr>
            <a:r>
              <a:rPr sz="3200" b="1" dirty="0">
                <a:solidFill>
                  <a:srgbClr val="FFFFFF"/>
                </a:solidFill>
                <a:latin typeface="Georgia"/>
              </a:rPr>
              <a:t>Adaptive Bayesian TA-</a:t>
            </a:r>
            <a:r>
              <a:rPr sz="3200" b="1" dirty="0" err="1">
                <a:solidFill>
                  <a:srgbClr val="FFFFFF"/>
                </a:solidFill>
                <a:latin typeface="Georgia"/>
              </a:rPr>
              <a:t>BiLSTM</a:t>
            </a:r>
            <a:r>
              <a:rPr sz="3200" b="1" dirty="0">
                <a:solidFill>
                  <a:srgbClr val="FFFFFF"/>
                </a:solidFill>
                <a:latin typeface="Georgia"/>
              </a:rPr>
              <a:t> for Early Sepsis Prediction</a:t>
            </a:r>
          </a:p>
          <a:p>
            <a:pPr>
              <a:spcAft>
                <a:spcPts val="2400"/>
              </a:spcAft>
              <a:defRPr sz="1300" b="1">
                <a:solidFill>
                  <a:srgbClr val="D97706"/>
                </a:solidFill>
                <a:latin typeface="Arial"/>
              </a:defRPr>
            </a:pPr>
            <a:r>
              <a:rPr sz="1300" b="1" dirty="0">
                <a:solidFill>
                  <a:srgbClr val="D97706"/>
                </a:solidFill>
                <a:latin typeface="Arial"/>
              </a:rPr>
              <a:t>Track Declaration (Check One):   [  ] Track I: Industry Product &amp; Verification   |   [X] Track II: Journal/Conference Paper</a:t>
            </a:r>
          </a:p>
          <a:p>
            <a:pPr>
              <a:defRPr sz="1300">
                <a:solidFill>
                  <a:srgbClr val="E2E8F0"/>
                </a:solidFill>
                <a:latin typeface="Arial"/>
              </a:defRPr>
            </a:pPr>
            <a:r>
              <a:rPr sz="1400" b="1" dirty="0">
                <a:solidFill>
                  <a:srgbClr val="E2E8F0"/>
                </a:solidFill>
                <a:latin typeface="Arial"/>
              </a:rPr>
              <a:t>Group Details &amp; Team Members:</a:t>
            </a:r>
            <a:br>
              <a:rPr dirty="0"/>
            </a:br>
            <a:r>
              <a:rPr sz="1400" b="0" dirty="0">
                <a:solidFill>
                  <a:srgbClr val="E2E8F0"/>
                </a:solidFill>
                <a:latin typeface="Arial"/>
              </a:rPr>
              <a:t>• Group No: C3</a:t>
            </a:r>
            <a:br>
              <a:rPr dirty="0"/>
            </a:br>
            <a:r>
              <a:rPr sz="1400" b="0" dirty="0">
                <a:solidFill>
                  <a:srgbClr val="E2E8F0"/>
                </a:solidFill>
                <a:latin typeface="Arial"/>
              </a:rPr>
              <a:t>• Nakka </a:t>
            </a:r>
            <a:r>
              <a:rPr sz="1400" b="0" dirty="0" err="1">
                <a:solidFill>
                  <a:srgbClr val="E2E8F0"/>
                </a:solidFill>
                <a:latin typeface="Arial"/>
              </a:rPr>
              <a:t>Saampotth</a:t>
            </a:r>
            <a:r>
              <a:rPr sz="1400" b="0" dirty="0">
                <a:solidFill>
                  <a:srgbClr val="E2E8F0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E2E8F0"/>
                </a:solidFill>
                <a:latin typeface="Arial"/>
              </a:rPr>
              <a:t>Maddileti</a:t>
            </a:r>
            <a:r>
              <a:rPr sz="1400" b="0" dirty="0">
                <a:solidFill>
                  <a:srgbClr val="E2E8F0"/>
                </a:solidFill>
                <a:latin typeface="Arial"/>
              </a:rPr>
              <a:t> — CB.SC.U4AIE24233</a:t>
            </a:r>
            <a:br>
              <a:rPr dirty="0"/>
            </a:br>
            <a:r>
              <a:rPr sz="1400" b="0" dirty="0">
                <a:solidFill>
                  <a:srgbClr val="E2E8F0"/>
                </a:solidFill>
                <a:latin typeface="Arial"/>
              </a:rPr>
              <a:t>• Nimmagadda Kesav Satya Sai — CB.SC.U4AIE24236</a:t>
            </a:r>
            <a:br>
              <a:rPr dirty="0"/>
            </a:br>
            <a:r>
              <a:rPr sz="1400" b="0" dirty="0">
                <a:solidFill>
                  <a:srgbClr val="E2E8F0"/>
                </a:solidFill>
                <a:latin typeface="Arial"/>
              </a:rPr>
              <a:t>• Pabbathi Gnana Vikas Sai — CB.SC.U4AIE24238</a:t>
            </a:r>
            <a:br>
              <a:rPr dirty="0"/>
            </a:br>
            <a:r>
              <a:rPr sz="1400" b="0" dirty="0">
                <a:solidFill>
                  <a:srgbClr val="E2E8F0"/>
                </a:solidFill>
                <a:latin typeface="Arial"/>
              </a:rPr>
              <a:t>• Vemula Poornachandra — CB.SC.U4AIE24258</a:t>
            </a:r>
            <a:br>
              <a:rPr dirty="0"/>
            </a:br>
            <a:r>
              <a:rPr lang="en-IN" sz="1400" dirty="0"/>
              <a:t>• Mentor / Industry Partner: [Dr. Navaneeth </a:t>
            </a:r>
            <a:r>
              <a:rPr lang="en-IN" sz="1400" dirty="0" err="1"/>
              <a:t>Haridasan</a:t>
            </a:r>
            <a:r>
              <a:rPr lang="en-IN" sz="1400" dirty="0"/>
              <a:t> &amp; Assistant Professor ]</a:t>
            </a:r>
            <a:endParaRPr sz="1400" b="0" dirty="0">
              <a:solidFill>
                <a:srgbClr val="E2E8F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rPr dirty="0"/>
              <a:t>22AIE301 PROBABILISTIC REASONING — FINAL PROJECT REVIEW</a:t>
            </a:r>
          </a:p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dirty="0"/>
              <a:t>1. Problem Statement, Industry/Research Scope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22AIE301 Course Project Final Review Template  |  Slide 2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5780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sz="1400" b="1">
                <a:solidFill>
                  <a:srgbClr val="1B2A4A"/>
                </a:solidFill>
                <a:latin typeface="Georgia"/>
              </a:rPr>
              <a:t>Problem Statement &amp; Research Gap</a:t>
            </a:r>
          </a:p>
          <a:p>
            <a:pPr marL="155448" indent="-155448" algn="l">
              <a:spcAft>
                <a:spcPts val="600"/>
              </a:spcAft>
              <a:buChar char="•"/>
            </a:pPr>
            <a:r>
              <a:rPr sz="1050" b="1">
                <a:solidFill>
                  <a:srgbClr val="2C3E50"/>
                </a:solidFill>
                <a:latin typeface="Arial"/>
              </a:rPr>
              <a:t>Context: </a:t>
            </a:r>
            <a:r>
              <a:rPr sz="1050" b="0">
                <a:solidFill>
                  <a:srgbClr val="2C3E50"/>
                </a:solidFill>
                <a:latin typeface="Arial"/>
              </a:rPr>
              <a:t>Sepsis is a life-threatening condition associated with infection and organ dysfunction. Early detection is difficult because ICU observations change over time and may be noisy, incomplete, or irregularly recorded. A single static prediction may not represent evolving patient risk or uncertainty in the patient’s hidden clinical state.</a:t>
            </a:r>
          </a:p>
          <a:p>
            <a:pPr marL="155448" indent="-155448" algn="l">
              <a:spcAft>
                <a:spcPts val="600"/>
              </a:spcAft>
              <a:buChar char="•"/>
            </a:pPr>
            <a:r>
              <a:rPr sz="1050" b="1">
                <a:solidFill>
                  <a:srgbClr val="2C3E50"/>
                </a:solidFill>
                <a:latin typeface="Arial"/>
              </a:rPr>
              <a:t>Research gap: </a:t>
            </a:r>
            <a:r>
              <a:rPr sz="1050" b="0">
                <a:solidFill>
                  <a:srgbClr val="2C3E50"/>
                </a:solidFill>
                <a:latin typeface="Arial"/>
              </a:rPr>
              <a:t>A temporal model should learn patterns from sequential ICU measurements while explicitly representing hidden-state transitions and updating risk estimates as new observations arrive.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85232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sz="1400" b="1">
                <a:solidFill>
                  <a:srgbClr val="1B2A4A"/>
                </a:solidFill>
                <a:latin typeface="Georgia"/>
              </a:rPr>
              <a:t>Core Project Objectives</a:t>
            </a:r>
          </a:p>
          <a:p>
            <a:pPr marL="155448" indent="-155448" algn="l">
              <a:spcAft>
                <a:spcPts val="600"/>
              </a:spcAft>
              <a:buChar char="•"/>
            </a:pPr>
            <a:r>
              <a:rPr sz="1050" b="1">
                <a:solidFill>
                  <a:srgbClr val="2C3E50"/>
                </a:solidFill>
                <a:latin typeface="Arial"/>
              </a:rPr>
              <a:t>1. Temporal Representation: </a:t>
            </a:r>
            <a:r>
              <a:rPr sz="1050" b="0">
                <a:solidFill>
                  <a:srgbClr val="2C3E50"/>
                </a:solidFill>
                <a:latin typeface="Arial"/>
              </a:rPr>
              <a:t>Encode 24-hour windows of ICU variables into 64-dimensional TA-BiLSTM embeddings.</a:t>
            </a:r>
          </a:p>
          <a:p>
            <a:pPr marL="155448" indent="-155448" algn="l">
              <a:spcAft>
                <a:spcPts val="600"/>
              </a:spcAft>
              <a:buChar char="•"/>
            </a:pPr>
            <a:r>
              <a:rPr sz="1050" b="1">
                <a:solidFill>
                  <a:srgbClr val="2C3E50"/>
                </a:solidFill>
                <a:latin typeface="Arial"/>
              </a:rPr>
              <a:t>2. Probabilistic State Modeling: </a:t>
            </a:r>
            <a:r>
              <a:rPr sz="1050" b="0">
                <a:solidFill>
                  <a:srgbClr val="2C3E50"/>
                </a:solidFill>
                <a:latin typeface="Arial"/>
              </a:rPr>
              <a:t>Represent four hidden states and their transition/emission probabilities using a DBN.</a:t>
            </a:r>
          </a:p>
          <a:p>
            <a:pPr marL="155448" indent="-155448" algn="l">
              <a:spcAft>
                <a:spcPts val="600"/>
              </a:spcAft>
              <a:buChar char="•"/>
            </a:pPr>
            <a:r>
              <a:rPr sz="1050" b="1">
                <a:solidFill>
                  <a:srgbClr val="2C3E50"/>
                </a:solidFill>
                <a:latin typeface="Arial"/>
              </a:rPr>
              <a:t>3. Sequential Inference: </a:t>
            </a:r>
            <a:r>
              <a:rPr sz="1050" b="0">
                <a:solidFill>
                  <a:srgbClr val="2C3E50"/>
                </a:solidFill>
                <a:latin typeface="Arial"/>
              </a:rPr>
              <a:t>Apply an APF to update posterior state probabilities and estimated sepsis risk.</a:t>
            </a:r>
          </a:p>
          <a:p>
            <a:pPr marL="155448" indent="-155448" algn="l">
              <a:spcAft>
                <a:spcPts val="600"/>
              </a:spcAft>
              <a:buChar char="•"/>
            </a:pPr>
            <a:r>
              <a:rPr sz="1050" b="1">
                <a:solidFill>
                  <a:srgbClr val="2C3E50"/>
                </a:solidFill>
                <a:latin typeface="Arial"/>
              </a:rPr>
              <a:t>4. Evaluation: </a:t>
            </a:r>
            <a:r>
              <a:rPr sz="1050" b="0">
                <a:solidFill>
                  <a:srgbClr val="2C3E50"/>
                </a:solidFill>
                <a:latin typeface="Arial"/>
              </a:rPr>
              <a:t>Compare against baselines and select the decision threshold using validation data only.</a:t>
            </a:r>
          </a:p>
        </p:txBody>
      </p:sp>
      <p:sp>
        <p:nvSpPr>
          <p:cNvPr id="7" name="In-Scope Card"/>
          <p:cNvSpPr/>
          <p:nvPr/>
        </p:nvSpPr>
        <p:spPr>
          <a:xfrm>
            <a:off x="731520" y="3794760"/>
            <a:ext cx="5257800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sz="1400" b="1">
                <a:solidFill>
                  <a:srgbClr val="1B2A4A"/>
                </a:solidFill>
                <a:latin typeface="Georgia"/>
              </a:rPr>
              <a:t>In-Scope</a:t>
            </a:r>
          </a:p>
          <a:p>
            <a:pPr marL="155448" indent="-155448" algn="l">
              <a:spcAft>
                <a:spcPts val="300"/>
              </a:spcAft>
              <a:buChar char="•"/>
            </a:pPr>
            <a:r>
              <a:rPr sz="1000" b="0">
                <a:solidFill>
                  <a:srgbClr val="2C3E50"/>
                </a:solidFill>
                <a:latin typeface="Arial"/>
              </a:rPr>
              <a:t>Preprocess ICU time-series data, handle missing values, normalize features, and construct 24-hour patient windows.</a:t>
            </a:r>
          </a:p>
          <a:p>
            <a:pPr marL="155448" indent="-155448" algn="l">
              <a:spcAft>
                <a:spcPts val="300"/>
              </a:spcAft>
              <a:buChar char="•"/>
            </a:pPr>
            <a:r>
              <a:rPr sz="1000" b="0">
                <a:solidFill>
                  <a:srgbClr val="2C3E50"/>
                </a:solidFill>
                <a:latin typeface="Arial"/>
              </a:rPr>
              <a:t>Learn temporal representations using a TA-BiLSTM encoder and generate 64-dimensional embeddings.</a:t>
            </a:r>
          </a:p>
          <a:p>
            <a:pPr marL="155448" indent="-155448" algn="l">
              <a:spcAft>
                <a:spcPts val="300"/>
              </a:spcAft>
              <a:buChar char="•"/>
            </a:pPr>
            <a:r>
              <a:rPr sz="1000" b="0">
                <a:solidFill>
                  <a:srgbClr val="2C3E50"/>
                </a:solidFill>
                <a:latin typeface="Arial"/>
              </a:rPr>
              <a:t>Model four hidden clinical states with a Dynamic Bayesian Network (DBN): S0—Stable, S1—Deterioration, S2—High-Risk, S3—Sepsis.</a:t>
            </a:r>
          </a:p>
          <a:p>
            <a:pPr marL="155448" indent="-155448" algn="l">
              <a:spcAft>
                <a:spcPts val="300"/>
              </a:spcAft>
              <a:buChar char="•"/>
            </a:pPr>
            <a:r>
              <a:rPr sz="1000" b="0">
                <a:solidFill>
                  <a:srgbClr val="2C3E50"/>
                </a:solidFill>
                <a:latin typeface="Arial"/>
              </a:rPr>
              <a:t>Use an Adaptive Particle Filter (APF) with Effective Sample Size (ESS)-based resampling to update state beliefs and sepsis-risk estimates.</a:t>
            </a:r>
          </a:p>
          <a:p>
            <a:pPr marL="155448" indent="-155448" algn="l">
              <a:spcAft>
                <a:spcPts val="300"/>
              </a:spcAft>
              <a:buChar char="•"/>
            </a:pPr>
            <a:r>
              <a:rPr sz="1000" b="0">
                <a:solidFill>
                  <a:srgbClr val="2C3E50"/>
                </a:solidFill>
                <a:latin typeface="Arial"/>
              </a:rPr>
              <a:t>Evaluate against selected baseline models using consistent train/validation/test partitions and standard classification metrics.</a:t>
            </a:r>
          </a:p>
        </p:txBody>
      </p:sp>
      <p:sp>
        <p:nvSpPr>
          <p:cNvPr id="8" name="Out-of-Scope Card"/>
          <p:cNvSpPr/>
          <p:nvPr/>
        </p:nvSpPr>
        <p:spPr>
          <a:xfrm>
            <a:off x="6172200" y="3794760"/>
            <a:ext cx="5285232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sz="1400" b="1">
                <a:solidFill>
                  <a:srgbClr val="1B2A4A"/>
                </a:solidFill>
                <a:latin typeface="Georgia"/>
              </a:rPr>
              <a:t>Out-of-Scope</a:t>
            </a:r>
          </a:p>
          <a:p>
            <a:pPr marL="155448" indent="-155448" algn="l">
              <a:spcAft>
                <a:spcPts val="500"/>
              </a:spcAft>
              <a:buChar char="•"/>
            </a:pPr>
            <a:r>
              <a:rPr sz="1050" b="0">
                <a:solidFill>
                  <a:srgbClr val="2C3E50"/>
                </a:solidFill>
                <a:latin typeface="Arial"/>
              </a:rPr>
              <a:t>Autonomous diagnosis or treatment decisions for real patients.</a:t>
            </a:r>
          </a:p>
          <a:p>
            <a:pPr marL="155448" indent="-155448" algn="l">
              <a:spcAft>
                <a:spcPts val="500"/>
              </a:spcAft>
              <a:buChar char="•"/>
            </a:pPr>
            <a:r>
              <a:rPr sz="1050" b="0">
                <a:solidFill>
                  <a:srgbClr val="2C3E50"/>
                </a:solidFill>
                <a:latin typeface="Arial"/>
              </a:rPr>
              <a:t>Real-world clinical deployment or integration into hospital systems.</a:t>
            </a:r>
          </a:p>
          <a:p>
            <a:pPr marL="155448" indent="-155448" algn="l">
              <a:spcAft>
                <a:spcPts val="500"/>
              </a:spcAft>
              <a:buChar char="•"/>
            </a:pPr>
            <a:r>
              <a:rPr sz="1050" b="0">
                <a:solidFill>
                  <a:srgbClr val="2C3E50"/>
                </a:solidFill>
                <a:latin typeface="Arial"/>
              </a:rPr>
              <a:t>Claims of causal treatment effects or counterfactual treatment recommendations unless an action-conditioned causal model is implemented and evaluated.</a:t>
            </a:r>
          </a:p>
          <a:p>
            <a:pPr marL="155448" indent="-155448" algn="l">
              <a:spcAft>
                <a:spcPts val="500"/>
              </a:spcAft>
              <a:buChar char="•"/>
            </a:pPr>
            <a:r>
              <a:rPr sz="1050" b="0">
                <a:solidFill>
                  <a:srgbClr val="2C3E50"/>
                </a:solidFill>
                <a:latin typeface="Arial"/>
              </a:rPr>
              <a:t>Claiming generalization to other hospitals or populations without independent external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22AIE301 PROBABILISTIC REASONING — FINAL PROJECT REVIEW</a:t>
            </a:r>
          </a:p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2. Probabilistic Model Formulation (PGM Architecture)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22AIE301 Course Project Final Review Template  |  Slide 3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852160" cy="4709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/>
          <a:lstStyle/>
          <a:p>
            <a:pPr algn="ctr">
              <a:spcAft>
                <a:spcPts val="1000"/>
              </a:spcAft>
              <a:defRPr sz="1600" b="1">
                <a:solidFill>
                  <a:srgbClr val="1B2A4A"/>
                </a:solidFill>
                <a:latin typeface="Georgia"/>
              </a:defRPr>
            </a:pPr>
            <a:r>
              <a:rPr sz="1500" b="1">
                <a:solidFill>
                  <a:srgbClr val="1B2A4A"/>
                </a:solidFill>
                <a:latin typeface="Georgia"/>
              </a:rPr>
              <a:t>PGM Graph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554480"/>
            <a:ext cx="4690872" cy="2423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/>
          <a:lstStyle/>
          <a:p>
            <a:pPr algn="ctr">
              <a:spcAft>
                <a:spcPts val="1000"/>
              </a:spcAft>
              <a:defRPr sz="1600" b="1">
                <a:solidFill>
                  <a:srgbClr val="1B2A4A"/>
                </a:solidFill>
                <a:latin typeface="Georgia"/>
              </a:defRPr>
            </a:pPr>
            <a:r>
              <a:rPr sz="1500" b="1">
                <a:solidFill>
                  <a:srgbClr val="1B2A4A"/>
                </a:solidFill>
                <a:latin typeface="Georgia"/>
              </a:rPr>
              <a:t>Model Formulation</a:t>
            </a:r>
          </a:p>
          <a:p>
            <a:pPr marL="155448" indent="-155448" algn="l">
              <a:spcAft>
                <a:spcPts val="500"/>
              </a:spcAft>
              <a:buChar char="•"/>
            </a:pPr>
            <a:r>
              <a:rPr sz="1050" b="1">
                <a:solidFill>
                  <a:srgbClr val="2C3E50"/>
                </a:solidFill>
                <a:latin typeface="Arial"/>
              </a:rPr>
              <a:t>State transition: </a:t>
            </a:r>
            <a:r>
              <a:rPr sz="1050" b="0">
                <a:solidFill>
                  <a:srgbClr val="2C3E50"/>
                </a:solidFill>
                <a:latin typeface="Arial"/>
              </a:rPr>
              <a:t>P(S</a:t>
            </a:r>
            <a:r>
              <a:rPr sz="1050" b="0" baseline="-25000">
                <a:solidFill>
                  <a:srgbClr val="2C3E50"/>
                </a:solidFill>
                <a:latin typeface="Arial"/>
              </a:rPr>
              <a:t>t</a:t>
            </a:r>
            <a:r>
              <a:rPr sz="1050" b="0">
                <a:solidFill>
                  <a:srgbClr val="2C3E50"/>
                </a:solidFill>
                <a:latin typeface="Arial"/>
              </a:rPr>
              <a:t> | S</a:t>
            </a:r>
            <a:r>
              <a:rPr sz="1050" b="0" baseline="-25000">
                <a:solidFill>
                  <a:srgbClr val="2C3E50"/>
                </a:solidFill>
                <a:latin typeface="Arial"/>
              </a:rPr>
              <a:t>t−1</a:t>
            </a:r>
            <a:r>
              <a:rPr sz="1050" b="0">
                <a:solidFill>
                  <a:srgbClr val="2C3E50"/>
                </a:solidFill>
                <a:latin typeface="Arial"/>
              </a:rPr>
              <a:t>), estimated from state-transition counts using Maximum Likelihood Estimation (MLE).</a:t>
            </a:r>
          </a:p>
          <a:p>
            <a:pPr marL="155448" indent="-155448" algn="l">
              <a:spcAft>
                <a:spcPts val="500"/>
              </a:spcAft>
              <a:buChar char="•"/>
            </a:pPr>
            <a:r>
              <a:rPr sz="1050" b="1">
                <a:solidFill>
                  <a:srgbClr val="2C3E50"/>
                </a:solidFill>
                <a:latin typeface="Arial"/>
              </a:rPr>
              <a:t>State evidence: </a:t>
            </a:r>
            <a:r>
              <a:rPr sz="1050" b="0">
                <a:solidFill>
                  <a:srgbClr val="2C3E50"/>
                </a:solidFill>
                <a:latin typeface="Arial"/>
              </a:rPr>
              <a:t>E</a:t>
            </a:r>
            <a:r>
              <a:rPr sz="1050" b="0" baseline="-25000">
                <a:solidFill>
                  <a:srgbClr val="2C3E50"/>
                </a:solidFill>
                <a:latin typeface="Arial"/>
              </a:rPr>
              <a:t>t</a:t>
            </a:r>
            <a:r>
              <a:rPr sz="1050" b="0">
                <a:solidFill>
                  <a:srgbClr val="2C3E50"/>
                </a:solidFill>
                <a:latin typeface="Arial"/>
              </a:rPr>
              <a:t> → S</a:t>
            </a:r>
            <a:r>
              <a:rPr sz="1050" b="0" baseline="-25000">
                <a:solidFill>
                  <a:srgbClr val="2C3E50"/>
                </a:solidFill>
                <a:latin typeface="Arial"/>
              </a:rPr>
              <a:t>t</a:t>
            </a:r>
            <a:r>
              <a:rPr sz="1050" b="0">
                <a:solidFill>
                  <a:srgbClr val="2C3E50"/>
                </a:solidFill>
                <a:latin typeface="Arial"/>
              </a:rPr>
              <a:t> is the supervised Bayesian State Learner that maps the 64-D embedding to S0–S3 (not a learned emission density).</a:t>
            </a:r>
          </a:p>
          <a:p>
            <a:pPr marL="155448" indent="-155448" algn="l">
              <a:spcAft>
                <a:spcPts val="500"/>
              </a:spcAft>
              <a:buChar char="•"/>
            </a:pPr>
            <a:r>
              <a:rPr sz="1050" b="1">
                <a:solidFill>
                  <a:srgbClr val="2C3E50"/>
                </a:solidFill>
                <a:latin typeface="Arial"/>
              </a:rPr>
              <a:t>Sepsis outcome: </a:t>
            </a:r>
            <a:r>
              <a:rPr sz="1050" b="0">
                <a:solidFill>
                  <a:srgbClr val="2C3E50"/>
                </a:solidFill>
                <a:latin typeface="Arial"/>
              </a:rPr>
              <a:t>P(Y</a:t>
            </a:r>
            <a:r>
              <a:rPr sz="1050" b="0" baseline="-25000">
                <a:solidFill>
                  <a:srgbClr val="2C3E50"/>
                </a:solidFill>
                <a:latin typeface="Arial"/>
              </a:rPr>
              <a:t>t</a:t>
            </a:r>
            <a:r>
              <a:rPr sz="1050" b="0">
                <a:solidFill>
                  <a:srgbClr val="2C3E50"/>
                </a:solidFill>
                <a:latin typeface="Arial"/>
              </a:rPr>
              <a:t> | S</a:t>
            </a:r>
            <a:r>
              <a:rPr sz="1050" b="0" baseline="-25000">
                <a:solidFill>
                  <a:srgbClr val="2C3E50"/>
                </a:solidFill>
                <a:latin typeface="Arial"/>
              </a:rPr>
              <a:t>t</a:t>
            </a:r>
            <a:r>
              <a:rPr sz="1050" b="0">
                <a:solidFill>
                  <a:srgbClr val="2C3E50"/>
                </a:solidFill>
                <a:latin typeface="Arial"/>
              </a:rPr>
              <a:t>), the sepsis likelihood of each state.</a:t>
            </a:r>
          </a:p>
          <a:p>
            <a:pPr marL="155448" indent="-155448" algn="l">
              <a:spcAft>
                <a:spcPts val="500"/>
              </a:spcAft>
              <a:buChar char="•"/>
            </a:pPr>
            <a:r>
              <a:rPr sz="1050" b="1">
                <a:solidFill>
                  <a:srgbClr val="2C3E50"/>
                </a:solidFill>
                <a:latin typeface="Arial"/>
              </a:rPr>
              <a:t>Sequential target: </a:t>
            </a:r>
            <a:r>
              <a:rPr sz="1050" b="0">
                <a:solidFill>
                  <a:srgbClr val="2C3E50"/>
                </a:solidFill>
                <a:latin typeface="Arial"/>
              </a:rPr>
              <a:t>P(Y</a:t>
            </a:r>
            <a:r>
              <a:rPr sz="1050" b="0" baseline="-25000">
                <a:solidFill>
                  <a:srgbClr val="2C3E50"/>
                </a:solidFill>
                <a:latin typeface="Arial"/>
              </a:rPr>
              <a:t>t</a:t>
            </a:r>
            <a:r>
              <a:rPr sz="1050" b="0">
                <a:solidFill>
                  <a:srgbClr val="2C3E50"/>
                </a:solidFill>
                <a:latin typeface="Arial"/>
              </a:rPr>
              <a:t> = 1 | E</a:t>
            </a:r>
            <a:r>
              <a:rPr sz="1050" b="0" baseline="-25000">
                <a:solidFill>
                  <a:srgbClr val="2C3E50"/>
                </a:solidFill>
                <a:latin typeface="Arial"/>
              </a:rPr>
              <a:t>1:t</a:t>
            </a:r>
            <a:r>
              <a:rPr sz="1050" b="0">
                <a:solidFill>
                  <a:srgbClr val="2C3E50"/>
                </a:solidFill>
                <a:latin typeface="Arial"/>
              </a:rPr>
              <a:t>), estimated with the APF.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4069080"/>
            <a:ext cx="4690872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/>
          <a:lstStyle/>
          <a:p>
            <a:pPr algn="ctr">
              <a:spcAft>
                <a:spcPts val="1000"/>
              </a:spcAft>
              <a:defRPr sz="1600" b="1">
                <a:solidFill>
                  <a:srgbClr val="1B2A4A"/>
                </a:solidFill>
                <a:latin typeface="Georgia"/>
              </a:defRPr>
            </a:pPr>
            <a:r>
              <a:rPr sz="1500" b="1">
                <a:solidFill>
                  <a:srgbClr val="1B2A4A"/>
                </a:solidFill>
                <a:latin typeface="Georgia"/>
              </a:rPr>
              <a:t>Uncertainty Mechanics</a:t>
            </a:r>
          </a:p>
          <a:p>
            <a:pPr marL="155448" indent="-155448" algn="l">
              <a:spcAft>
                <a:spcPts val="400"/>
              </a:spcAft>
              <a:buChar char="•"/>
            </a:pPr>
            <a:r>
              <a:rPr sz="1000" b="1">
                <a:solidFill>
                  <a:srgbClr val="2C3E50"/>
                </a:solidFill>
                <a:latin typeface="Arial"/>
              </a:rPr>
              <a:t>Sources: </a:t>
            </a:r>
            <a:r>
              <a:rPr sz="1000" b="0">
                <a:solidFill>
                  <a:srgbClr val="2C3E50"/>
                </a:solidFill>
                <a:latin typeface="Arial"/>
              </a:rPr>
              <a:t>physiological variation, noisy measurements, missing values, and partially observed patient state.</a:t>
            </a:r>
          </a:p>
          <a:p>
            <a:pPr marL="155448" indent="-155448" algn="l">
              <a:spcAft>
                <a:spcPts val="400"/>
              </a:spcAft>
              <a:buChar char="•"/>
            </a:pPr>
            <a:r>
              <a:rPr sz="1000" b="1">
                <a:solidFill>
                  <a:srgbClr val="2C3E50"/>
                </a:solidFill>
                <a:latin typeface="Arial"/>
              </a:rPr>
              <a:t>DBN: </a:t>
            </a:r>
            <a:r>
              <a:rPr sz="1000" b="0">
                <a:solidFill>
                  <a:srgbClr val="2C3E50"/>
                </a:solidFill>
                <a:latin typeface="Arial"/>
              </a:rPr>
              <a:t>represents dependencies and transitions among hidden states.</a:t>
            </a:r>
          </a:p>
          <a:p>
            <a:pPr marL="155448" indent="-155448" algn="l">
              <a:spcAft>
                <a:spcPts val="400"/>
              </a:spcAft>
              <a:buChar char="•"/>
            </a:pPr>
            <a:r>
              <a:rPr sz="1000" b="1">
                <a:solidFill>
                  <a:srgbClr val="2C3E50"/>
                </a:solidFill>
                <a:latin typeface="Arial"/>
              </a:rPr>
              <a:t>APF: </a:t>
            </a:r>
            <a:r>
              <a:rPr sz="1000" b="0">
                <a:solidFill>
                  <a:srgbClr val="2C3E50"/>
                </a:solidFill>
                <a:latin typeface="Arial"/>
              </a:rPr>
              <a:t>propagates weighted particles, updates weights from observation likelihoods, and resamples when ESS falls below the selected threshold.</a:t>
            </a:r>
          </a:p>
          <a:p>
            <a:pPr marL="155448" indent="-155448" algn="l">
              <a:spcAft>
                <a:spcPts val="400"/>
              </a:spcAft>
              <a:buChar char="•"/>
            </a:pPr>
            <a:r>
              <a:rPr sz="1000" b="1">
                <a:solidFill>
                  <a:srgbClr val="2C3E50"/>
                </a:solidFill>
                <a:latin typeface="Arial"/>
              </a:rPr>
              <a:t>Output: </a:t>
            </a:r>
            <a:r>
              <a:rPr sz="1000" b="0">
                <a:solidFill>
                  <a:srgbClr val="2C3E50"/>
                </a:solidFill>
                <a:latin typeface="Arial"/>
              </a:rPr>
              <a:t>a time-updated sepsis probability rather than only a fixed class label.</a:t>
            </a:r>
          </a:p>
        </p:txBody>
      </p:sp>
      <p:sp>
        <p:nvSpPr>
          <p:cNvPr id="8" name="Node E_t"/>
          <p:cNvSpPr/>
          <p:nvPr/>
        </p:nvSpPr>
        <p:spPr>
          <a:xfrm>
            <a:off x="2788920" y="2103120"/>
            <a:ext cx="1737360" cy="640080"/>
          </a:xfrm>
          <a:prstGeom prst="ellipse">
            <a:avLst/>
          </a:prstGeom>
          <a:solidFill>
            <a:srgbClr val="FFE6CC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1B2A4A"/>
                </a:solidFill>
                <a:latin typeface="Arial"/>
              </a:rPr>
              <a:t>Embedding E</a:t>
            </a:r>
            <a:r>
              <a:rPr sz="1200" b="1" baseline="-25000">
                <a:solidFill>
                  <a:srgbClr val="1B2A4A"/>
                </a:solidFill>
                <a:latin typeface="Arial"/>
              </a:rPr>
              <a:t>t</a:t>
            </a:r>
          </a:p>
          <a:p>
            <a:pPr algn="ctr"/>
            <a:r>
              <a:rPr sz="1000" b="0">
                <a:solidFill>
                  <a:srgbClr val="1B2A4A"/>
                </a:solidFill>
                <a:latin typeface="Arial"/>
              </a:rPr>
              <a:t>from TA-BiLSTM</a:t>
            </a:r>
          </a:p>
        </p:txBody>
      </p:sp>
      <p:sp>
        <p:nvSpPr>
          <p:cNvPr id="9" name="Node S_t-1"/>
          <p:cNvSpPr/>
          <p:nvPr/>
        </p:nvSpPr>
        <p:spPr>
          <a:xfrm>
            <a:off x="914400" y="3108960"/>
            <a:ext cx="1097280" cy="685800"/>
          </a:xfrm>
          <a:prstGeom prst="ellipse">
            <a:avLst/>
          </a:prstGeom>
          <a:solidFill>
            <a:srgbClr val="E1D5E7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1B2A4A"/>
                </a:solidFill>
                <a:latin typeface="Arial"/>
              </a:rPr>
              <a:t>S</a:t>
            </a:r>
            <a:r>
              <a:rPr sz="1300" b="1" baseline="-25000">
                <a:solidFill>
                  <a:srgbClr val="1B2A4A"/>
                </a:solidFill>
                <a:latin typeface="Arial"/>
              </a:rPr>
              <a:t>t−1</a:t>
            </a:r>
          </a:p>
        </p:txBody>
      </p:sp>
      <p:sp>
        <p:nvSpPr>
          <p:cNvPr id="10" name="Node S_t"/>
          <p:cNvSpPr/>
          <p:nvPr/>
        </p:nvSpPr>
        <p:spPr>
          <a:xfrm>
            <a:off x="3017520" y="3108960"/>
            <a:ext cx="1280160" cy="685800"/>
          </a:xfrm>
          <a:prstGeom prst="ellipse">
            <a:avLst/>
          </a:prstGeom>
          <a:solidFill>
            <a:srgbClr val="E1D5E7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1B2A4A"/>
                </a:solidFill>
                <a:latin typeface="Arial"/>
              </a:rPr>
              <a:t>S</a:t>
            </a:r>
            <a:r>
              <a:rPr sz="1300" b="1" baseline="-25000">
                <a:solidFill>
                  <a:srgbClr val="1B2A4A"/>
                </a:solidFill>
                <a:latin typeface="Arial"/>
              </a:rPr>
              <a:t>t</a:t>
            </a:r>
          </a:p>
          <a:p>
            <a:pPr algn="ctr"/>
            <a:r>
              <a:rPr sz="1000" b="0">
                <a:solidFill>
                  <a:srgbClr val="1B2A4A"/>
                </a:solidFill>
                <a:latin typeface="Arial"/>
              </a:rPr>
              <a:t>{S0…S3}</a:t>
            </a:r>
          </a:p>
        </p:txBody>
      </p:sp>
      <p:sp>
        <p:nvSpPr>
          <p:cNvPr id="11" name="Node S_t+1"/>
          <p:cNvSpPr/>
          <p:nvPr/>
        </p:nvSpPr>
        <p:spPr>
          <a:xfrm>
            <a:off x="5303520" y="3108960"/>
            <a:ext cx="1097280" cy="685800"/>
          </a:xfrm>
          <a:prstGeom prst="ellipse">
            <a:avLst/>
          </a:prstGeom>
          <a:solidFill>
            <a:srgbClr val="E1D5E7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1B2A4A"/>
                </a:solidFill>
                <a:latin typeface="Arial"/>
              </a:rPr>
              <a:t>S</a:t>
            </a:r>
            <a:r>
              <a:rPr sz="1300" b="1" baseline="-25000">
                <a:solidFill>
                  <a:srgbClr val="1B2A4A"/>
                </a:solidFill>
                <a:latin typeface="Arial"/>
              </a:rPr>
              <a:t>t+1</a:t>
            </a:r>
          </a:p>
        </p:txBody>
      </p:sp>
      <p:sp>
        <p:nvSpPr>
          <p:cNvPr id="12" name="Node Y_t"/>
          <p:cNvSpPr/>
          <p:nvPr/>
        </p:nvSpPr>
        <p:spPr>
          <a:xfrm>
            <a:off x="2788920" y="4206240"/>
            <a:ext cx="1737360" cy="594360"/>
          </a:xfrm>
          <a:prstGeom prst="ellipse">
            <a:avLst/>
          </a:prstGeom>
          <a:solidFill>
            <a:srgbClr val="F8CECC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1B2A4A"/>
                </a:solidFill>
                <a:latin typeface="Arial"/>
              </a:rPr>
              <a:t>Sepsis label Y</a:t>
            </a:r>
            <a:r>
              <a:rPr sz="1200" b="1" baseline="-25000">
                <a:solidFill>
                  <a:srgbClr val="1B2A4A"/>
                </a:solidFill>
                <a:latin typeface="Arial"/>
              </a:rPr>
              <a:t>t</a:t>
            </a:r>
          </a:p>
        </p:txBody>
      </p:sp>
      <p:cxnSp>
        <p:nvCxnSpPr>
          <p:cNvPr id="13" name="Edge S_t-1 to S_t"/>
          <p:cNvCxnSpPr/>
          <p:nvPr/>
        </p:nvCxnSpPr>
        <p:spPr>
          <a:xfrm>
            <a:off x="2011680" y="3451860"/>
            <a:ext cx="1005840" cy="0"/>
          </a:xfrm>
          <a:prstGeom prst="line">
            <a:avLst/>
          </a:prstGeom>
          <a:ln w="22225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dge S_t to S_t+1"/>
          <p:cNvCxnSpPr/>
          <p:nvPr/>
        </p:nvCxnSpPr>
        <p:spPr>
          <a:xfrm>
            <a:off x="4297680" y="3451860"/>
            <a:ext cx="1005840" cy="0"/>
          </a:xfrm>
          <a:prstGeom prst="line">
            <a:avLst/>
          </a:prstGeom>
          <a:ln w="22225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dge E_t to S_t"/>
          <p:cNvCxnSpPr/>
          <p:nvPr/>
        </p:nvCxnSpPr>
        <p:spPr>
          <a:xfrm>
            <a:off x="3657600" y="2743200"/>
            <a:ext cx="0" cy="365760"/>
          </a:xfrm>
          <a:prstGeom prst="line">
            <a:avLst/>
          </a:prstGeom>
          <a:ln w="22225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dge S_t to Y_t"/>
          <p:cNvCxnSpPr/>
          <p:nvPr/>
        </p:nvCxnSpPr>
        <p:spPr>
          <a:xfrm>
            <a:off x="3657600" y="3794760"/>
            <a:ext cx="0" cy="411480"/>
          </a:xfrm>
          <a:prstGeom prst="line">
            <a:avLst/>
          </a:prstGeom>
          <a:ln w="22225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abel transition"/>
          <p:cNvSpPr txBox="1"/>
          <p:nvPr/>
        </p:nvSpPr>
        <p:spPr>
          <a:xfrm>
            <a:off x="1965960" y="3127248"/>
            <a:ext cx="109728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  <a:latin typeface="Arial"/>
              </a:rPr>
              <a:t>P(S</a:t>
            </a:r>
            <a:r>
              <a:rPr sz="1000" b="0" baseline="-25000">
                <a:solidFill>
                  <a:srgbClr val="2C3E50"/>
                </a:solidFill>
                <a:latin typeface="Arial"/>
              </a:rPr>
              <a:t>t</a:t>
            </a:r>
            <a:r>
              <a:rPr sz="1000" b="0">
                <a:solidFill>
                  <a:srgbClr val="2C3E50"/>
                </a:solidFill>
                <a:latin typeface="Arial"/>
              </a:rPr>
              <a:t> | S</a:t>
            </a:r>
            <a:r>
              <a:rPr sz="1000" b="0" baseline="-25000">
                <a:solidFill>
                  <a:srgbClr val="2C3E50"/>
                </a:solidFill>
                <a:latin typeface="Arial"/>
              </a:rPr>
              <a:t>t−1</a:t>
            </a:r>
            <a:r>
              <a:rPr sz="1000" b="0">
                <a:solidFill>
                  <a:srgbClr val="2C3E50"/>
                </a:solidFill>
                <a:latin typeface="Arial"/>
              </a:rPr>
              <a:t>)</a:t>
            </a:r>
          </a:p>
        </p:txBody>
      </p:sp>
      <p:sp>
        <p:nvSpPr>
          <p:cNvPr id="18" name="Label transition next"/>
          <p:cNvSpPr txBox="1"/>
          <p:nvPr/>
        </p:nvSpPr>
        <p:spPr>
          <a:xfrm>
            <a:off x="4251960" y="3127248"/>
            <a:ext cx="109728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000" b="0">
                <a:solidFill>
                  <a:srgbClr val="2C3E50"/>
                </a:solidFill>
                <a:latin typeface="Arial"/>
              </a:rPr>
              <a:t>P(S</a:t>
            </a:r>
            <a:r>
              <a:rPr sz="1000" b="0" baseline="-25000">
                <a:solidFill>
                  <a:srgbClr val="2C3E50"/>
                </a:solidFill>
                <a:latin typeface="Arial"/>
              </a:rPr>
              <a:t>t+1</a:t>
            </a:r>
            <a:r>
              <a:rPr sz="1000" b="0">
                <a:solidFill>
                  <a:srgbClr val="2C3E50"/>
                </a:solidFill>
                <a:latin typeface="Arial"/>
              </a:rPr>
              <a:t> | S</a:t>
            </a:r>
            <a:r>
              <a:rPr sz="1000" b="0" baseline="-25000">
                <a:solidFill>
                  <a:srgbClr val="2C3E50"/>
                </a:solidFill>
                <a:latin typeface="Arial"/>
              </a:rPr>
              <a:t>t</a:t>
            </a:r>
            <a:r>
              <a:rPr sz="1000" b="0">
                <a:solidFill>
                  <a:srgbClr val="2C3E50"/>
                </a:solidFill>
                <a:latin typeface="Arial"/>
              </a:rPr>
              <a:t>)</a:t>
            </a:r>
          </a:p>
        </p:txBody>
      </p:sp>
      <p:sp>
        <p:nvSpPr>
          <p:cNvPr id="19" name="Label state learner"/>
          <p:cNvSpPr txBox="1"/>
          <p:nvPr/>
        </p:nvSpPr>
        <p:spPr>
          <a:xfrm>
            <a:off x="3749039" y="2807208"/>
            <a:ext cx="12801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  <a:latin typeface="Arial"/>
              </a:rPr>
              <a:t>state learner</a:t>
            </a:r>
          </a:p>
        </p:txBody>
      </p:sp>
      <p:sp>
        <p:nvSpPr>
          <p:cNvPr id="20" name="Label outcome"/>
          <p:cNvSpPr txBox="1"/>
          <p:nvPr/>
        </p:nvSpPr>
        <p:spPr>
          <a:xfrm>
            <a:off x="3749039" y="3858768"/>
            <a:ext cx="128016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  <a:latin typeface="Arial"/>
              </a:rPr>
              <a:t>P(Y</a:t>
            </a:r>
            <a:r>
              <a:rPr sz="1000" b="0" baseline="-25000">
                <a:solidFill>
                  <a:srgbClr val="2C3E50"/>
                </a:solidFill>
                <a:latin typeface="Arial"/>
              </a:rPr>
              <a:t>t</a:t>
            </a:r>
            <a:r>
              <a:rPr sz="1000" b="0">
                <a:solidFill>
                  <a:srgbClr val="2C3E50"/>
                </a:solidFill>
                <a:latin typeface="Arial"/>
              </a:rPr>
              <a:t> | S</a:t>
            </a:r>
            <a:r>
              <a:rPr sz="1000" b="0" baseline="-25000">
                <a:solidFill>
                  <a:srgbClr val="2C3E50"/>
                </a:solidFill>
                <a:latin typeface="Arial"/>
              </a:rPr>
              <a:t>t</a:t>
            </a:r>
            <a:r>
              <a:rPr sz="1000" b="0">
                <a:solidFill>
                  <a:srgbClr val="2C3E50"/>
                </a:solidFill>
                <a:latin typeface="Arial"/>
              </a:rPr>
              <a:t>)</a:t>
            </a:r>
          </a:p>
        </p:txBody>
      </p:sp>
      <p:sp>
        <p:nvSpPr>
          <p:cNvPr id="21" name="Node meanings"/>
          <p:cNvSpPr txBox="1"/>
          <p:nvPr/>
        </p:nvSpPr>
        <p:spPr>
          <a:xfrm>
            <a:off x="914400" y="4892040"/>
            <a:ext cx="5486400" cy="132588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marL="155448" indent="-155448">
              <a:spcAft>
                <a:spcPts val="300"/>
              </a:spcAft>
              <a:buChar char="•"/>
            </a:pPr>
            <a:r>
              <a:rPr sz="1000" b="1">
                <a:solidFill>
                  <a:srgbClr val="2C3E50"/>
                </a:solidFill>
                <a:latin typeface="Arial"/>
              </a:rPr>
              <a:t>E</a:t>
            </a:r>
            <a:r>
              <a:rPr sz="1000" b="1" baseline="-25000">
                <a:solidFill>
                  <a:srgbClr val="2C3E50"/>
                </a:solidFill>
                <a:latin typeface="Arial"/>
              </a:rPr>
              <a:t>t</a:t>
            </a:r>
            <a:r>
              <a:rPr sz="1000" b="1">
                <a:solidFill>
                  <a:srgbClr val="2C3E50"/>
                </a:solidFill>
                <a:latin typeface="Arial"/>
              </a:rPr>
              <a:t>: </a:t>
            </a:r>
            <a:r>
              <a:rPr sz="1000" b="0">
                <a:solidFill>
                  <a:srgbClr val="2C3E50"/>
                </a:solidFill>
                <a:latin typeface="Arial"/>
              </a:rPr>
              <a:t>64-D embedding of the patient’s 24-hour clinical window from TA-BiLSTM.</a:t>
            </a:r>
          </a:p>
          <a:p>
            <a:pPr marL="155448" indent="-155448">
              <a:spcAft>
                <a:spcPts val="300"/>
              </a:spcAft>
              <a:buChar char="•"/>
            </a:pPr>
            <a:r>
              <a:rPr sz="1000" b="1">
                <a:solidFill>
                  <a:srgbClr val="2C3E50"/>
                </a:solidFill>
                <a:latin typeface="Arial"/>
              </a:rPr>
              <a:t>S</a:t>
            </a:r>
            <a:r>
              <a:rPr sz="1000" b="1" baseline="-25000">
                <a:solidFill>
                  <a:srgbClr val="2C3E50"/>
                </a:solidFill>
                <a:latin typeface="Arial"/>
              </a:rPr>
              <a:t>t</a:t>
            </a:r>
            <a:r>
              <a:rPr sz="1000" b="1">
                <a:solidFill>
                  <a:srgbClr val="2C3E50"/>
                </a:solidFill>
                <a:latin typeface="Arial"/>
              </a:rPr>
              <a:t>, S</a:t>
            </a:r>
            <a:r>
              <a:rPr sz="1000" b="1" baseline="-25000">
                <a:solidFill>
                  <a:srgbClr val="2C3E50"/>
                </a:solidFill>
                <a:latin typeface="Arial"/>
              </a:rPr>
              <a:t>t−1</a:t>
            </a:r>
            <a:r>
              <a:rPr sz="1000" b="1">
                <a:solidFill>
                  <a:srgbClr val="2C3E50"/>
                </a:solidFill>
                <a:latin typeface="Arial"/>
              </a:rPr>
              <a:t>: </a:t>
            </a:r>
            <a:r>
              <a:rPr sz="1000" b="0">
                <a:solidFill>
                  <a:srgbClr val="2C3E50"/>
                </a:solidFill>
                <a:latin typeface="Arial"/>
              </a:rPr>
              <a:t>hidden clinical state now / previous; S</a:t>
            </a:r>
            <a:r>
              <a:rPr sz="1000" b="0" baseline="-25000">
                <a:solidFill>
                  <a:srgbClr val="2C3E50"/>
                </a:solidFill>
                <a:latin typeface="Arial"/>
              </a:rPr>
              <a:t>t</a:t>
            </a:r>
            <a:r>
              <a:rPr sz="1000" b="0">
                <a:solidFill>
                  <a:srgbClr val="2C3E50"/>
                </a:solidFill>
                <a:latin typeface="Arial"/>
              </a:rPr>
              <a:t> ∈ {S0, S1, S2, S3}.</a:t>
            </a:r>
          </a:p>
          <a:p>
            <a:pPr marL="155448" indent="-155448">
              <a:spcAft>
                <a:spcPts val="300"/>
              </a:spcAft>
              <a:buChar char="•"/>
            </a:pPr>
            <a:r>
              <a:rPr sz="1000" b="1">
                <a:solidFill>
                  <a:srgbClr val="2C3E50"/>
                </a:solidFill>
                <a:latin typeface="Arial"/>
              </a:rPr>
              <a:t>Y</a:t>
            </a:r>
            <a:r>
              <a:rPr sz="1000" b="1" baseline="-25000">
                <a:solidFill>
                  <a:srgbClr val="2C3E50"/>
                </a:solidFill>
                <a:latin typeface="Arial"/>
              </a:rPr>
              <a:t>t</a:t>
            </a:r>
            <a:r>
              <a:rPr sz="1000" b="1">
                <a:solidFill>
                  <a:srgbClr val="2C3E50"/>
                </a:solidFill>
                <a:latin typeface="Arial"/>
              </a:rPr>
              <a:t>: </a:t>
            </a:r>
            <a:r>
              <a:rPr sz="1000" b="0">
                <a:solidFill>
                  <a:srgbClr val="2C3E50"/>
                </a:solidFill>
                <a:latin typeface="Arial"/>
              </a:rPr>
              <a:t>sepsis label / outcome at time t.</a:t>
            </a:r>
          </a:p>
          <a:p>
            <a:pPr marL="155448" indent="-155448">
              <a:spcAft>
                <a:spcPts val="300"/>
              </a:spcAft>
              <a:buChar char="•"/>
            </a:pPr>
            <a:r>
              <a:rPr sz="1000" b="1">
                <a:solidFill>
                  <a:srgbClr val="2C3E50"/>
                </a:solidFill>
                <a:latin typeface="Arial"/>
              </a:rPr>
              <a:t>Query: </a:t>
            </a:r>
            <a:r>
              <a:rPr sz="1000" b="0">
                <a:solidFill>
                  <a:srgbClr val="2C3E50"/>
                </a:solidFill>
                <a:latin typeface="Arial"/>
              </a:rPr>
              <a:t>P(Y</a:t>
            </a:r>
            <a:r>
              <a:rPr sz="1000" b="0" baseline="-25000">
                <a:solidFill>
                  <a:srgbClr val="2C3E50"/>
                </a:solidFill>
                <a:latin typeface="Arial"/>
              </a:rPr>
              <a:t>t</a:t>
            </a:r>
            <a:r>
              <a:rPr sz="1000" b="0">
                <a:solidFill>
                  <a:srgbClr val="2C3E50"/>
                </a:solidFill>
                <a:latin typeface="Arial"/>
              </a:rPr>
              <a:t> = 1 | E</a:t>
            </a:r>
            <a:r>
              <a:rPr sz="1000" b="0" baseline="-25000">
                <a:solidFill>
                  <a:srgbClr val="2C3E50"/>
                </a:solidFill>
                <a:latin typeface="Arial"/>
              </a:rPr>
              <a:t>1:t</a:t>
            </a:r>
            <a:r>
              <a:rPr sz="1000" b="0">
                <a:solidFill>
                  <a:srgbClr val="2C3E50"/>
                </a:solidFill>
                <a:latin typeface="Arial"/>
              </a:rPr>
              <a:t>). The transition structure repeats over time: S</a:t>
            </a:r>
            <a:r>
              <a:rPr sz="1000" b="0" baseline="-25000">
                <a:solidFill>
                  <a:srgbClr val="2C3E50"/>
                </a:solidFill>
                <a:latin typeface="Arial"/>
              </a:rPr>
              <a:t>t−1</a:t>
            </a:r>
            <a:r>
              <a:rPr sz="1000" b="0">
                <a:solidFill>
                  <a:srgbClr val="2C3E50"/>
                </a:solidFill>
                <a:latin typeface="Arial"/>
              </a:rPr>
              <a:t> → S</a:t>
            </a:r>
            <a:r>
              <a:rPr sz="1000" b="0" baseline="-25000">
                <a:solidFill>
                  <a:srgbClr val="2C3E50"/>
                </a:solidFill>
                <a:latin typeface="Arial"/>
              </a:rPr>
              <a:t>t</a:t>
            </a:r>
            <a:r>
              <a:rPr sz="1000" b="0">
                <a:solidFill>
                  <a:srgbClr val="2C3E50"/>
                </a:solidFill>
                <a:latin typeface="Arial"/>
              </a:rPr>
              <a:t> → S</a:t>
            </a:r>
            <a:r>
              <a:rPr sz="1000" b="0" baseline="-25000">
                <a:solidFill>
                  <a:srgbClr val="2C3E50"/>
                </a:solidFill>
                <a:latin typeface="Arial"/>
              </a:rPr>
              <a:t>t+1</a:t>
            </a:r>
            <a:r>
              <a:rPr sz="1000" b="0">
                <a:solidFill>
                  <a:srgbClr val="2C3E5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22AIE301 PROBABILISTIC REASONING — FINAL PROJECT REVIEW</a:t>
            </a:r>
          </a:p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3. Inference &amp; Decision Engine Mechanics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22AIE301 Course Project Final Review Template  |  Slide 4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t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sz="1800" b="1">
                <a:solidFill>
                  <a:srgbClr val="1B2A4A"/>
                </a:solidFill>
                <a:latin typeface="Georgia"/>
              </a:rPr>
              <a:t>Inference Algorithm &amp; Mechanics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50" b="1">
                <a:solidFill>
                  <a:srgbClr val="1B2A4A"/>
                </a:solidFill>
                <a:latin typeface="Arial"/>
              </a:rPr>
              <a:t>Adaptive Particle Filter</a:t>
            </a:r>
          </a:p>
          <a:p>
            <a:pPr marL="155448" indent="-155448" algn="l">
              <a:spcAft>
                <a:spcPts val="400"/>
              </a:spcAft>
              <a:buChar char="•"/>
            </a:pPr>
            <a:r>
              <a:rPr sz="1150" b="1">
                <a:solidFill>
                  <a:srgbClr val="2C3E50"/>
                </a:solidFill>
                <a:latin typeface="Arial"/>
              </a:rPr>
              <a:t>Step 1 — </a:t>
            </a:r>
            <a:r>
              <a:rPr sz="1150" b="0">
                <a:solidFill>
                  <a:srgbClr val="2C3E50"/>
                </a:solidFill>
                <a:latin typeface="Arial"/>
              </a:rPr>
              <a:t>Initialize particles representing possible hidden states.</a:t>
            </a:r>
          </a:p>
          <a:p>
            <a:pPr marL="155448" indent="-155448" algn="l">
              <a:spcAft>
                <a:spcPts val="400"/>
              </a:spcAft>
              <a:buChar char="•"/>
            </a:pPr>
            <a:r>
              <a:rPr sz="1150" b="1">
                <a:solidFill>
                  <a:srgbClr val="2C3E50"/>
                </a:solidFill>
                <a:latin typeface="Arial"/>
              </a:rPr>
              <a:t>Step 2 — Prediction: </a:t>
            </a:r>
            <a:r>
              <a:rPr sz="1150" b="0">
                <a:solidFill>
                  <a:srgbClr val="2C3E50"/>
                </a:solidFill>
                <a:latin typeface="Arial"/>
              </a:rPr>
              <a:t>Propagate particles using the learned DBN transition probabilities.</a:t>
            </a:r>
          </a:p>
          <a:p>
            <a:pPr marL="155448" indent="-155448" algn="l">
              <a:spcAft>
                <a:spcPts val="400"/>
              </a:spcAft>
              <a:buChar char="•"/>
            </a:pPr>
            <a:r>
              <a:rPr sz="1150" b="1">
                <a:solidFill>
                  <a:srgbClr val="2C3E50"/>
                </a:solidFill>
                <a:latin typeface="Arial"/>
              </a:rPr>
              <a:t>Step 3 — Correction: </a:t>
            </a:r>
            <a:r>
              <a:rPr sz="1150" b="0">
                <a:solidFill>
                  <a:srgbClr val="2C3E50"/>
                </a:solidFill>
                <a:latin typeface="Arial"/>
              </a:rPr>
              <a:t>Update particle weights using observation/emission probabilities.</a:t>
            </a:r>
          </a:p>
          <a:p>
            <a:pPr marL="155448" indent="-155448" algn="l">
              <a:spcAft>
                <a:spcPts val="400"/>
              </a:spcAft>
              <a:buChar char="•"/>
            </a:pPr>
            <a:r>
              <a:rPr sz="1150" b="1">
                <a:solidFill>
                  <a:srgbClr val="2C3E50"/>
                </a:solidFill>
                <a:latin typeface="Arial"/>
              </a:rPr>
              <a:t>Step 4 — </a:t>
            </a:r>
            <a:r>
              <a:rPr sz="1150" b="0">
                <a:solidFill>
                  <a:srgbClr val="2C3E50"/>
                </a:solidFill>
                <a:latin typeface="Arial"/>
              </a:rPr>
              <a:t>Compute Effective Sample Size (ESS) to monitor particle degeneracy.</a:t>
            </a:r>
          </a:p>
          <a:p>
            <a:pPr marL="155448" indent="-155448" algn="l">
              <a:spcAft>
                <a:spcPts val="400"/>
              </a:spcAft>
              <a:buChar char="•"/>
            </a:pPr>
            <a:r>
              <a:rPr sz="1150" b="1">
                <a:solidFill>
                  <a:srgbClr val="2C3E50"/>
                </a:solidFill>
                <a:latin typeface="Arial"/>
              </a:rPr>
              <a:t>Step 5 — </a:t>
            </a:r>
            <a:r>
              <a:rPr sz="1150" b="0">
                <a:solidFill>
                  <a:srgbClr val="2C3E50"/>
                </a:solidFill>
                <a:latin typeface="Arial"/>
              </a:rPr>
              <a:t>If ESS &lt; N/2, perform systematic resampling.</a:t>
            </a:r>
          </a:p>
          <a:p>
            <a:pPr marL="155448" indent="-155448" algn="l">
              <a:spcAft>
                <a:spcPts val="400"/>
              </a:spcAft>
              <a:buChar char="•"/>
            </a:pPr>
            <a:r>
              <a:rPr sz="1150" b="1">
                <a:solidFill>
                  <a:srgbClr val="2C3E50"/>
                </a:solidFill>
                <a:latin typeface="Arial"/>
              </a:rPr>
              <a:t>Step 6 — </a:t>
            </a:r>
            <a:r>
              <a:rPr sz="1150" b="0">
                <a:solidFill>
                  <a:srgbClr val="2C3E50"/>
                </a:solidFill>
                <a:latin typeface="Arial"/>
              </a:rPr>
              <a:t>Estimate sepsis probability from the weighted particle states.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50" b="1">
                <a:solidFill>
                  <a:srgbClr val="1B2A4A"/>
                </a:solidFill>
                <a:latin typeface="Arial"/>
              </a:rPr>
              <a:t>Probability estimate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2C3E50"/>
                </a:solidFill>
                <a:latin typeface="Arial"/>
              </a:rPr>
              <a:t>P(Y</a:t>
            </a:r>
            <a:r>
              <a:rPr sz="1150" b="1" baseline="-25000">
                <a:solidFill>
                  <a:srgbClr val="2C3E50"/>
                </a:solidFill>
                <a:latin typeface="Arial"/>
              </a:rPr>
              <a:t>t</a:t>
            </a:r>
            <a:r>
              <a:rPr sz="1150" b="1">
                <a:solidFill>
                  <a:srgbClr val="2C3E50"/>
                </a:solidFill>
                <a:latin typeface="Arial"/>
              </a:rPr>
              <a:t>=1 | History) = Σ w</a:t>
            </a:r>
            <a:r>
              <a:rPr sz="1150" b="1" baseline="-25000">
                <a:solidFill>
                  <a:srgbClr val="2C3E50"/>
                </a:solidFill>
                <a:latin typeface="Arial"/>
              </a:rPr>
              <a:t>t</a:t>
            </a:r>
            <a:r>
              <a:rPr sz="1150" b="1">
                <a:solidFill>
                  <a:srgbClr val="2C3E50"/>
                </a:solidFill>
                <a:latin typeface="Arial"/>
              </a:rPr>
              <a:t>(i) × P(Y</a:t>
            </a:r>
            <a:r>
              <a:rPr sz="1150" b="1" baseline="-25000">
                <a:solidFill>
                  <a:srgbClr val="2C3E50"/>
                </a:solidFill>
                <a:latin typeface="Arial"/>
              </a:rPr>
              <a:t>t</a:t>
            </a:r>
            <a:r>
              <a:rPr sz="1150" b="1">
                <a:solidFill>
                  <a:srgbClr val="2C3E50"/>
                </a:solidFill>
                <a:latin typeface="Arial"/>
              </a:rPr>
              <a:t>=1 | S</a:t>
            </a:r>
            <a:r>
              <a:rPr sz="1150" b="1" baseline="-25000">
                <a:solidFill>
                  <a:srgbClr val="2C3E50"/>
                </a:solidFill>
                <a:latin typeface="Arial"/>
              </a:rPr>
              <a:t>t</a:t>
            </a:r>
            <a:r>
              <a:rPr sz="1150" b="1">
                <a:solidFill>
                  <a:srgbClr val="2C3E50"/>
                </a:solidFill>
                <a:latin typeface="Arial"/>
              </a:rPr>
              <a:t> = s</a:t>
            </a:r>
            <a:r>
              <a:rPr sz="1150" b="1" baseline="-25000">
                <a:solidFill>
                  <a:srgbClr val="2C3E50"/>
                </a:solidFill>
                <a:latin typeface="Arial"/>
              </a:rPr>
              <a:t>t</a:t>
            </a:r>
            <a:r>
              <a:rPr sz="1150" b="1">
                <a:solidFill>
                  <a:srgbClr val="2C3E50"/>
                </a:solidFill>
                <a:latin typeface="Arial"/>
              </a:rPr>
              <a:t>(i))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t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sz="1800" b="1">
                <a:solidFill>
                  <a:srgbClr val="1B2A4A"/>
                </a:solidFill>
                <a:latin typeface="Georgia"/>
              </a:rPr>
              <a:t>Decision Analysis &amp; Interventional Scenarios</a:t>
            </a:r>
          </a:p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1300" b="1">
                <a:solidFill>
                  <a:srgbClr val="1B2A4A"/>
                </a:solidFill>
                <a:latin typeface="Arial"/>
              </a:rPr>
              <a:t>Threshold &amp; What-If Analysis</a:t>
            </a:r>
          </a:p>
          <a:p>
            <a:pPr marL="155448" indent="-155448" algn="l">
              <a:spcAft>
                <a:spcPts val="800"/>
              </a:spcAft>
              <a:buChar char="•"/>
            </a:pPr>
            <a:r>
              <a:rPr sz="1200" b="0">
                <a:solidFill>
                  <a:srgbClr val="2C3E50"/>
                </a:solidFill>
                <a:latin typeface="Arial"/>
              </a:rPr>
              <a:t>The validation-based threshold selected by the optimization script is 0.13.</a:t>
            </a:r>
          </a:p>
          <a:p>
            <a:pPr marL="155448" indent="-155448" algn="l">
              <a:spcAft>
                <a:spcPts val="800"/>
              </a:spcAft>
              <a:buChar char="•"/>
            </a:pPr>
            <a:r>
              <a:rPr sz="1200" b="0">
                <a:solidFill>
                  <a:srgbClr val="2C3E50"/>
                </a:solidFill>
                <a:latin typeface="Arial"/>
              </a:rPr>
              <a:t>At this threshold, the final reported test metrics are shown on Slide 6.</a:t>
            </a:r>
          </a:p>
          <a:p>
            <a:pPr marL="155448" indent="-155448" algn="l">
              <a:spcAft>
                <a:spcPts val="800"/>
              </a:spcAft>
              <a:buChar char="•"/>
            </a:pPr>
            <a:r>
              <a:rPr sz="1200" b="0">
                <a:solidFill>
                  <a:srgbClr val="2C3E50"/>
                </a:solidFill>
                <a:latin typeface="Arial"/>
              </a:rPr>
              <a:t>Counterfactual scenarios using Pearl’s do-calculus (e.g., do(IV fluids) or do(antibiotics)) can compare hypothetical actions with natural progression. This is proposed future work unless the action-dependent model and evaluation are implemented.</a:t>
            </a:r>
          </a:p>
          <a:p>
            <a:pPr marL="155448" indent="-155448" algn="l">
              <a:spcAft>
                <a:spcPts val="800"/>
              </a:spcAft>
              <a:buChar char="•"/>
            </a:pPr>
            <a:r>
              <a:rPr sz="1200" b="0">
                <a:solidFill>
                  <a:srgbClr val="2C3E50"/>
                </a:solidFill>
                <a:latin typeface="Arial"/>
              </a:rPr>
              <a:t>Clinical actions remain subject to professional assessment; the model is not an autonomous treatment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22AIE301 PROBABILISTIC REASONING — FINAL PROJECT REVIEW</a:t>
            </a:r>
          </a:p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4. System Architecture, Computational Tools &amp; AI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22AIE301 Course Project Final Review Template  |  Slide 5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5912" cy="2670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4270248"/>
            <a:ext cx="1072591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sz="1400" b="1">
                <a:solidFill>
                  <a:srgbClr val="1B2A4A"/>
                </a:solidFill>
                <a:latin typeface="Georgia"/>
              </a:rPr>
              <a:t>Implementation Pipeline &amp; Technologies Used</a:t>
            </a:r>
          </a:p>
        </p:txBody>
      </p:sp>
      <p:sp>
        <p:nvSpPr>
          <p:cNvPr id="7" name="Arch ICU Time-Series Data"/>
          <p:cNvSpPr/>
          <p:nvPr/>
        </p:nvSpPr>
        <p:spPr>
          <a:xfrm>
            <a:off x="914400" y="1627632"/>
            <a:ext cx="1325880" cy="621792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1B2A4A"/>
                </a:solidFill>
                <a:latin typeface="Arial"/>
              </a:rPr>
              <a:t>ICU Time-Series Data</a:t>
            </a:r>
          </a:p>
          <a:p>
            <a:pPr algn="ctr"/>
            <a:r>
              <a:rPr sz="950" b="0">
                <a:solidFill>
                  <a:srgbClr val="1B2A4A"/>
                </a:solidFill>
                <a:latin typeface="Arial"/>
              </a:rPr>
              <a:t>(PhysioNet 2019)</a:t>
            </a:r>
          </a:p>
        </p:txBody>
      </p:sp>
      <p:sp>
        <p:nvSpPr>
          <p:cNvPr id="8" name="Arch Preprocessing"/>
          <p:cNvSpPr/>
          <p:nvPr/>
        </p:nvSpPr>
        <p:spPr>
          <a:xfrm>
            <a:off x="2715768" y="1627632"/>
            <a:ext cx="1325880" cy="621792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1B2A4A"/>
                </a:solidFill>
                <a:latin typeface="Arial"/>
              </a:rPr>
              <a:t>Preprocessing</a:t>
            </a:r>
          </a:p>
          <a:p>
            <a:pPr algn="ctr"/>
            <a:r>
              <a:rPr sz="950" b="0">
                <a:solidFill>
                  <a:srgbClr val="1B2A4A"/>
                </a:solidFill>
                <a:latin typeface="Arial"/>
              </a:rPr>
              <a:t>Missing values • normalization</a:t>
            </a:r>
          </a:p>
        </p:txBody>
      </p:sp>
      <p:cxnSp>
        <p:nvCxnSpPr>
          <p:cNvPr id="9" name="Arrow 1"/>
          <p:cNvCxnSpPr/>
          <p:nvPr/>
        </p:nvCxnSpPr>
        <p:spPr>
          <a:xfrm>
            <a:off x="2240280" y="1938528"/>
            <a:ext cx="475488" cy="0"/>
          </a:xfrm>
          <a:prstGeom prst="line">
            <a:avLst/>
          </a:prstGeom>
          <a:ln w="22225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Arch 24-hour Sliding Windows"/>
          <p:cNvSpPr/>
          <p:nvPr/>
        </p:nvSpPr>
        <p:spPr>
          <a:xfrm>
            <a:off x="4517136" y="1627632"/>
            <a:ext cx="1325880" cy="621792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1B2A4A"/>
                </a:solidFill>
                <a:latin typeface="Arial"/>
              </a:rPr>
              <a:t>24-hour Sliding Windows</a:t>
            </a:r>
          </a:p>
        </p:txBody>
      </p:sp>
      <p:cxnSp>
        <p:nvCxnSpPr>
          <p:cNvPr id="11" name="Arrow 2"/>
          <p:cNvCxnSpPr/>
          <p:nvPr/>
        </p:nvCxnSpPr>
        <p:spPr>
          <a:xfrm>
            <a:off x="4041648" y="1938528"/>
            <a:ext cx="475488" cy="0"/>
          </a:xfrm>
          <a:prstGeom prst="line">
            <a:avLst/>
          </a:prstGeom>
          <a:ln w="22225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Arch TA-BiLSTM Encoder"/>
          <p:cNvSpPr/>
          <p:nvPr/>
        </p:nvSpPr>
        <p:spPr>
          <a:xfrm>
            <a:off x="6318504" y="1627632"/>
            <a:ext cx="1325880" cy="621792"/>
          </a:xfrm>
          <a:prstGeom prst="roundRect">
            <a:avLst/>
          </a:prstGeom>
          <a:solidFill>
            <a:srgbClr val="FFE6CC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1B2A4A"/>
                </a:solidFill>
                <a:latin typeface="Arial"/>
              </a:rPr>
              <a:t>TA-BiLSTM Encoder</a:t>
            </a:r>
          </a:p>
        </p:txBody>
      </p:sp>
      <p:cxnSp>
        <p:nvCxnSpPr>
          <p:cNvPr id="13" name="Arrow 3"/>
          <p:cNvCxnSpPr/>
          <p:nvPr/>
        </p:nvCxnSpPr>
        <p:spPr>
          <a:xfrm>
            <a:off x="5843016" y="1938528"/>
            <a:ext cx="475488" cy="0"/>
          </a:xfrm>
          <a:prstGeom prst="line">
            <a:avLst/>
          </a:prstGeom>
          <a:ln w="22225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Arch 64-D Temporal Embedding E_{t}"/>
          <p:cNvSpPr/>
          <p:nvPr/>
        </p:nvSpPr>
        <p:spPr>
          <a:xfrm>
            <a:off x="8119871" y="1627632"/>
            <a:ext cx="1325880" cy="621792"/>
          </a:xfrm>
          <a:prstGeom prst="roundRect">
            <a:avLst/>
          </a:prstGeom>
          <a:solidFill>
            <a:srgbClr val="FFE6CC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1B2A4A"/>
                </a:solidFill>
                <a:latin typeface="Arial"/>
              </a:rPr>
              <a:t>64-D Temporal Embedding E</a:t>
            </a:r>
            <a:r>
              <a:rPr sz="1000" b="1" baseline="-25000">
                <a:solidFill>
                  <a:srgbClr val="1B2A4A"/>
                </a:solidFill>
                <a:latin typeface="Arial"/>
              </a:rPr>
              <a:t>t</a:t>
            </a:r>
          </a:p>
        </p:txBody>
      </p:sp>
      <p:cxnSp>
        <p:nvCxnSpPr>
          <p:cNvPr id="15" name="Arrow 4"/>
          <p:cNvCxnSpPr/>
          <p:nvPr/>
        </p:nvCxnSpPr>
        <p:spPr>
          <a:xfrm>
            <a:off x="7644383" y="1938528"/>
            <a:ext cx="475488" cy="0"/>
          </a:xfrm>
          <a:prstGeom prst="line">
            <a:avLst/>
          </a:prstGeom>
          <a:ln w="22225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Arch Bayesian State Learner"/>
          <p:cNvSpPr/>
          <p:nvPr/>
        </p:nvSpPr>
        <p:spPr>
          <a:xfrm>
            <a:off x="9921240" y="1627632"/>
            <a:ext cx="1325880" cy="621792"/>
          </a:xfrm>
          <a:prstGeom prst="roundRect">
            <a:avLst/>
          </a:prstGeom>
          <a:solidFill>
            <a:srgbClr val="E1D5E7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1B2A4A"/>
                </a:solidFill>
                <a:latin typeface="Arial"/>
              </a:rPr>
              <a:t>Bayesian State Learner</a:t>
            </a:r>
          </a:p>
          <a:p>
            <a:pPr algn="ctr"/>
            <a:r>
              <a:rPr sz="950" b="0">
                <a:solidFill>
                  <a:srgbClr val="1B2A4A"/>
                </a:solidFill>
                <a:latin typeface="Arial"/>
              </a:rPr>
              <a:t>S0–S3</a:t>
            </a:r>
          </a:p>
        </p:txBody>
      </p:sp>
      <p:cxnSp>
        <p:nvCxnSpPr>
          <p:cNvPr id="17" name="Arrow 5"/>
          <p:cNvCxnSpPr/>
          <p:nvPr/>
        </p:nvCxnSpPr>
        <p:spPr>
          <a:xfrm>
            <a:off x="9445751" y="1938528"/>
            <a:ext cx="475489" cy="0"/>
          </a:xfrm>
          <a:prstGeom prst="line">
            <a:avLst/>
          </a:prstGeom>
          <a:ln w="22225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Arch Four-State DBN"/>
          <p:cNvSpPr/>
          <p:nvPr/>
        </p:nvSpPr>
        <p:spPr>
          <a:xfrm>
            <a:off x="9601200" y="2523744"/>
            <a:ext cx="1645920" cy="621792"/>
          </a:xfrm>
          <a:prstGeom prst="roundRect">
            <a:avLst/>
          </a:prstGeom>
          <a:solidFill>
            <a:srgbClr val="E1D5E7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1B2A4A"/>
                </a:solidFill>
                <a:latin typeface="Arial"/>
              </a:rPr>
              <a:t>Four-State DBN</a:t>
            </a:r>
          </a:p>
          <a:p>
            <a:pPr algn="ctr"/>
            <a:r>
              <a:rPr sz="950" b="0">
                <a:solidFill>
                  <a:srgbClr val="1B2A4A"/>
                </a:solidFill>
                <a:latin typeface="Arial"/>
              </a:rPr>
              <a:t>P(S</a:t>
            </a:r>
            <a:r>
              <a:rPr sz="950" b="0" baseline="-25000">
                <a:solidFill>
                  <a:srgbClr val="1B2A4A"/>
                </a:solidFill>
                <a:latin typeface="Arial"/>
              </a:rPr>
              <a:t>t</a:t>
            </a:r>
            <a:r>
              <a:rPr sz="950" b="0">
                <a:solidFill>
                  <a:srgbClr val="1B2A4A"/>
                </a:solidFill>
                <a:latin typeface="Arial"/>
              </a:rPr>
              <a:t> | S</a:t>
            </a:r>
            <a:r>
              <a:rPr sz="950" b="0" baseline="-25000">
                <a:solidFill>
                  <a:srgbClr val="1B2A4A"/>
                </a:solidFill>
                <a:latin typeface="Arial"/>
              </a:rPr>
              <a:t>t−1</a:t>
            </a:r>
            <a:r>
              <a:rPr sz="950" b="0">
                <a:solidFill>
                  <a:srgbClr val="1B2A4A"/>
                </a:solidFill>
                <a:latin typeface="Arial"/>
              </a:rPr>
              <a:t>) + outcome model</a:t>
            </a:r>
          </a:p>
        </p:txBody>
      </p:sp>
      <p:sp>
        <p:nvSpPr>
          <p:cNvPr id="19" name="Arch Adaptive Particle Filter"/>
          <p:cNvSpPr/>
          <p:nvPr/>
        </p:nvSpPr>
        <p:spPr>
          <a:xfrm>
            <a:off x="7498079" y="2523744"/>
            <a:ext cx="1645920" cy="621792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1B2A4A"/>
                </a:solidFill>
                <a:latin typeface="Arial"/>
              </a:rPr>
              <a:t>Adaptive Particle Filter</a:t>
            </a:r>
          </a:p>
          <a:p>
            <a:pPr algn="ctr"/>
            <a:r>
              <a:rPr sz="950" b="0">
                <a:solidFill>
                  <a:srgbClr val="1B2A4A"/>
                </a:solidFill>
                <a:latin typeface="Arial"/>
              </a:rPr>
              <a:t>Weights • ESS • Resampling</a:t>
            </a:r>
          </a:p>
        </p:txBody>
      </p:sp>
      <p:cxnSp>
        <p:nvCxnSpPr>
          <p:cNvPr id="20" name="Arrow back 1"/>
          <p:cNvCxnSpPr/>
          <p:nvPr/>
        </p:nvCxnSpPr>
        <p:spPr>
          <a:xfrm flipH="1">
            <a:off x="9144000" y="2834639"/>
            <a:ext cx="457200" cy="0"/>
          </a:xfrm>
          <a:prstGeom prst="line">
            <a:avLst/>
          </a:prstGeom>
          <a:ln w="22225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rch Posterior Sepsis Probability"/>
          <p:cNvSpPr/>
          <p:nvPr/>
        </p:nvSpPr>
        <p:spPr>
          <a:xfrm>
            <a:off x="5394960" y="2523744"/>
            <a:ext cx="1645920" cy="621792"/>
          </a:xfrm>
          <a:prstGeom prst="roundRect">
            <a:avLst/>
          </a:prstGeom>
          <a:solidFill>
            <a:srgbClr val="F8CECC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1B2A4A"/>
                </a:solidFill>
                <a:latin typeface="Arial"/>
              </a:rPr>
              <a:t>Posterior Sepsis Probability</a:t>
            </a:r>
          </a:p>
          <a:p>
            <a:pPr algn="ctr"/>
            <a:r>
              <a:rPr sz="950" b="0">
                <a:solidFill>
                  <a:srgbClr val="1B2A4A"/>
                </a:solidFill>
                <a:latin typeface="Arial"/>
              </a:rPr>
              <a:t>P(Y</a:t>
            </a:r>
            <a:r>
              <a:rPr sz="950" b="0" baseline="-25000">
                <a:solidFill>
                  <a:srgbClr val="1B2A4A"/>
                </a:solidFill>
                <a:latin typeface="Arial"/>
              </a:rPr>
              <a:t>t</a:t>
            </a:r>
            <a:r>
              <a:rPr sz="950" b="0">
                <a:solidFill>
                  <a:srgbClr val="1B2A4A"/>
                </a:solidFill>
                <a:latin typeface="Arial"/>
              </a:rPr>
              <a:t>=1 | history)</a:t>
            </a:r>
          </a:p>
        </p:txBody>
      </p:sp>
      <p:cxnSp>
        <p:nvCxnSpPr>
          <p:cNvPr id="22" name="Arrow back 2"/>
          <p:cNvCxnSpPr/>
          <p:nvPr/>
        </p:nvCxnSpPr>
        <p:spPr>
          <a:xfrm flipH="1">
            <a:off x="7040880" y="2834639"/>
            <a:ext cx="457199" cy="0"/>
          </a:xfrm>
          <a:prstGeom prst="line">
            <a:avLst/>
          </a:prstGeom>
          <a:ln w="22225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Arch Validation-Selected Threshold"/>
          <p:cNvSpPr/>
          <p:nvPr/>
        </p:nvSpPr>
        <p:spPr>
          <a:xfrm>
            <a:off x="3291840" y="2523744"/>
            <a:ext cx="1645920" cy="621792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1B2A4A"/>
                </a:solidFill>
                <a:latin typeface="Arial"/>
              </a:rPr>
              <a:t>Validation-Selected Threshold</a:t>
            </a:r>
          </a:p>
        </p:txBody>
      </p:sp>
      <p:cxnSp>
        <p:nvCxnSpPr>
          <p:cNvPr id="24" name="Arrow back 3"/>
          <p:cNvCxnSpPr/>
          <p:nvPr/>
        </p:nvCxnSpPr>
        <p:spPr>
          <a:xfrm flipH="1">
            <a:off x="4937760" y="2834639"/>
            <a:ext cx="457200" cy="0"/>
          </a:xfrm>
          <a:prstGeom prst="line">
            <a:avLst/>
          </a:prstGeom>
          <a:ln w="22225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rch Risk Estimate / Alert"/>
          <p:cNvSpPr/>
          <p:nvPr/>
        </p:nvSpPr>
        <p:spPr>
          <a:xfrm>
            <a:off x="1188720" y="2523744"/>
            <a:ext cx="1645920" cy="621792"/>
          </a:xfrm>
          <a:prstGeom prst="roundRect">
            <a:avLst/>
          </a:prstGeom>
          <a:solidFill>
            <a:srgbClr val="F8CECC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1B2A4A"/>
                </a:solidFill>
                <a:latin typeface="Arial"/>
              </a:rPr>
              <a:t>Risk Estimate / Alert</a:t>
            </a:r>
          </a:p>
          <a:p>
            <a:pPr algn="ctr"/>
            <a:r>
              <a:rPr sz="950" b="0">
                <a:solidFill>
                  <a:srgbClr val="1B2A4A"/>
                </a:solidFill>
                <a:latin typeface="Arial"/>
              </a:rPr>
              <a:t>for clinical review only</a:t>
            </a:r>
          </a:p>
        </p:txBody>
      </p:sp>
      <p:cxnSp>
        <p:nvCxnSpPr>
          <p:cNvPr id="26" name="Arrow back 4"/>
          <p:cNvCxnSpPr/>
          <p:nvPr/>
        </p:nvCxnSpPr>
        <p:spPr>
          <a:xfrm flipH="1">
            <a:off x="2834640" y="2834639"/>
            <a:ext cx="457200" cy="0"/>
          </a:xfrm>
          <a:prstGeom prst="line">
            <a:avLst/>
          </a:prstGeom>
          <a:ln w="22225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Arrow state to DBN"/>
          <p:cNvCxnSpPr/>
          <p:nvPr/>
        </p:nvCxnSpPr>
        <p:spPr>
          <a:xfrm>
            <a:off x="10424160" y="2249424"/>
            <a:ext cx="0" cy="274320"/>
          </a:xfrm>
          <a:prstGeom prst="line">
            <a:avLst/>
          </a:prstGeom>
          <a:ln w="22225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Arch Evaluation"/>
          <p:cNvSpPr/>
          <p:nvPr/>
        </p:nvSpPr>
        <p:spPr>
          <a:xfrm>
            <a:off x="4114800" y="3419856"/>
            <a:ext cx="4206240" cy="621792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>
                <a:solidFill>
                  <a:srgbClr val="1B2A4A"/>
                </a:solidFill>
                <a:latin typeface="Arial"/>
              </a:rPr>
              <a:t>Evaluation &amp; Baseline Comparison</a:t>
            </a:r>
          </a:p>
          <a:p>
            <a:pPr algn="ctr"/>
            <a:r>
              <a:rPr sz="950" b="0">
                <a:solidFill>
                  <a:srgbClr val="1B2A4A"/>
                </a:solidFill>
                <a:latin typeface="Arial"/>
              </a:rPr>
              <a:t>ROC-AUC • PR-AUC • F1 • Sensitivity</a:t>
            </a:r>
          </a:p>
          <a:p>
            <a:pPr algn="ctr"/>
            <a:r>
              <a:rPr sz="950" b="0">
                <a:solidFill>
                  <a:srgbClr val="1B2A4A"/>
                </a:solidFill>
                <a:latin typeface="Arial"/>
              </a:rPr>
              <a:t>XGBoost • LightGBM • RF • Logistic Reg. • TA-BiLSTM alone</a:t>
            </a:r>
          </a:p>
        </p:txBody>
      </p:sp>
      <p:cxnSp>
        <p:nvCxnSpPr>
          <p:cNvPr id="29" name="Arrow prob to eval"/>
          <p:cNvCxnSpPr/>
          <p:nvPr/>
        </p:nvCxnSpPr>
        <p:spPr>
          <a:xfrm>
            <a:off x="6217920" y="3145536"/>
            <a:ext cx="0" cy="274320"/>
          </a:xfrm>
          <a:prstGeom prst="line">
            <a:avLst/>
          </a:prstGeom>
          <a:ln w="22225">
            <a:solidFill>
              <a:srgbClr val="4D4D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Hybrid note"/>
          <p:cNvSpPr txBox="1"/>
          <p:nvPr/>
        </p:nvSpPr>
        <p:spPr>
          <a:xfrm>
            <a:off x="914400" y="3419856"/>
            <a:ext cx="3017520" cy="6217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  <a:latin typeface="Arial"/>
              </a:rPr>
              <a:t>Hybrid integration: TA-BiLSTM learns temporal representations, the DBN represents state transitions, and the APF approximates sequential posterior inference.</a:t>
            </a:r>
          </a:p>
        </p:txBody>
      </p:sp>
      <p:sp>
        <p:nvSpPr>
          <p:cNvPr id="31" name="Threshold note"/>
          <p:cNvSpPr txBox="1"/>
          <p:nvPr/>
        </p:nvSpPr>
        <p:spPr>
          <a:xfrm>
            <a:off x="8503920" y="3419856"/>
            <a:ext cx="2743200" cy="6217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  <a:latin typeface="Arial"/>
              </a:rPr>
              <a:t>Threshold chosen on validation data only; final metrics reported on the held-out test split.</a:t>
            </a:r>
          </a:p>
        </p:txBody>
      </p:sp>
      <p:sp>
        <p:nvSpPr>
          <p:cNvPr id="32" name="Pipeline 1-5"/>
          <p:cNvSpPr txBox="1"/>
          <p:nvPr/>
        </p:nvSpPr>
        <p:spPr>
          <a:xfrm>
            <a:off x="914400" y="4709160"/>
            <a:ext cx="512064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246888" indent="-246888" algn="l">
              <a:spcAft>
                <a:spcPts val="300"/>
              </a:spcAft>
              <a:buAutoNum type="arabicPeriod"/>
            </a:pPr>
            <a:r>
              <a:rPr sz="1000" b="1">
                <a:solidFill>
                  <a:srgbClr val="2C3E50"/>
                </a:solidFill>
                <a:latin typeface="Arial"/>
              </a:rPr>
              <a:t>Data source: </a:t>
            </a:r>
            <a:r>
              <a:rPr sz="1000" b="0">
                <a:solidFill>
                  <a:srgbClr val="2C3E50"/>
                </a:solidFill>
                <a:latin typeface="Arial"/>
              </a:rPr>
              <a:t>PhysioNet/Computing in Cardiology Challenge 2019 Sepsis Dataset.</a:t>
            </a:r>
          </a:p>
          <a:p>
            <a:pPr marL="246888" indent="-246888" algn="l">
              <a:spcAft>
                <a:spcPts val="300"/>
              </a:spcAft>
              <a:buAutoNum type="arabicPeriod"/>
            </a:pPr>
            <a:r>
              <a:rPr sz="1000" b="1">
                <a:solidFill>
                  <a:srgbClr val="2C3E50"/>
                </a:solidFill>
                <a:latin typeface="Arial"/>
              </a:rPr>
              <a:t>Programming language: </a:t>
            </a:r>
            <a:r>
              <a:rPr sz="1000" b="0">
                <a:solidFill>
                  <a:srgbClr val="2C3E50"/>
                </a:solidFill>
                <a:latin typeface="Arial"/>
              </a:rPr>
              <a:t>Python.</a:t>
            </a:r>
          </a:p>
          <a:p>
            <a:pPr marL="246888" indent="-246888" algn="l">
              <a:spcAft>
                <a:spcPts val="300"/>
              </a:spcAft>
              <a:buAutoNum type="arabicPeriod"/>
            </a:pPr>
            <a:r>
              <a:rPr sz="1000" b="1">
                <a:solidFill>
                  <a:srgbClr val="2C3E50"/>
                </a:solidFill>
                <a:latin typeface="Arial"/>
              </a:rPr>
              <a:t>Data handling: </a:t>
            </a:r>
            <a:r>
              <a:rPr sz="1000" b="0">
                <a:solidFill>
                  <a:srgbClr val="2C3E50"/>
                </a:solidFill>
                <a:latin typeface="Arial"/>
              </a:rPr>
              <a:t>pandas, NumPy — loading, cleaning, transformation, windowing.</a:t>
            </a:r>
          </a:p>
          <a:p>
            <a:pPr marL="246888" indent="-246888" algn="l">
              <a:spcAft>
                <a:spcPts val="300"/>
              </a:spcAft>
              <a:buAutoNum type="arabicPeriod"/>
            </a:pPr>
            <a:r>
              <a:rPr sz="1000" b="1">
                <a:solidFill>
                  <a:srgbClr val="2C3E50"/>
                </a:solidFill>
                <a:latin typeface="Arial"/>
              </a:rPr>
              <a:t>Preprocessing: </a:t>
            </a:r>
            <a:r>
              <a:rPr sz="1000" b="0">
                <a:solidFill>
                  <a:srgbClr val="2C3E50"/>
                </a:solidFill>
                <a:latin typeface="Arial"/>
              </a:rPr>
              <a:t>missing-value handling, feature normalization, 24-hour windows.</a:t>
            </a:r>
          </a:p>
          <a:p>
            <a:pPr marL="246888" indent="-246888" algn="l">
              <a:spcAft>
                <a:spcPts val="300"/>
              </a:spcAft>
              <a:buAutoNum type="arabicPeriod"/>
            </a:pPr>
            <a:r>
              <a:rPr sz="1000" b="1">
                <a:solidFill>
                  <a:srgbClr val="2C3E50"/>
                </a:solidFill>
                <a:latin typeface="Arial"/>
              </a:rPr>
              <a:t>Deep learning: </a:t>
            </a:r>
            <a:r>
              <a:rPr sz="1000" b="0">
                <a:solidFill>
                  <a:srgbClr val="2C3E50"/>
                </a:solidFill>
                <a:latin typeface="Arial"/>
              </a:rPr>
              <a:t>PyTorch — TA-BiLSTM encoder, 64-D temporal embeddings.</a:t>
            </a:r>
          </a:p>
        </p:txBody>
      </p:sp>
      <p:sp>
        <p:nvSpPr>
          <p:cNvPr id="33" name="Pipeline 6-10"/>
          <p:cNvSpPr txBox="1"/>
          <p:nvPr/>
        </p:nvSpPr>
        <p:spPr>
          <a:xfrm>
            <a:off x="6217920" y="4709160"/>
            <a:ext cx="512064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246888" indent="-246888" algn="l">
              <a:spcAft>
                <a:spcPts val="300"/>
              </a:spcAft>
              <a:buAutoNum type="arabicPeriod" startAt="6"/>
            </a:pPr>
            <a:r>
              <a:rPr sz="1000" b="1">
                <a:solidFill>
                  <a:srgbClr val="2C3E50"/>
                </a:solidFill>
                <a:latin typeface="Arial"/>
              </a:rPr>
              <a:t>Probabilistic modeling: </a:t>
            </a:r>
            <a:r>
              <a:rPr sz="1000" b="0">
                <a:solidFill>
                  <a:srgbClr val="2C3E50"/>
                </a:solidFill>
                <a:latin typeface="Arial"/>
              </a:rPr>
              <a:t>Python DBN — state-transition and emission probability estimation.</a:t>
            </a:r>
          </a:p>
          <a:p>
            <a:pPr marL="246888" indent="-246888" algn="l">
              <a:spcAft>
                <a:spcPts val="300"/>
              </a:spcAft>
              <a:buAutoNum type="arabicPeriod" startAt="6"/>
            </a:pPr>
            <a:r>
              <a:rPr sz="1000" b="1">
                <a:solidFill>
                  <a:srgbClr val="2C3E50"/>
                </a:solidFill>
                <a:latin typeface="Arial"/>
              </a:rPr>
              <a:t>Sequential inference: </a:t>
            </a:r>
            <a:r>
              <a:rPr sz="1000" b="0">
                <a:solidFill>
                  <a:srgbClr val="2C3E50"/>
                </a:solidFill>
                <a:latin typeface="Arial"/>
              </a:rPr>
              <a:t>custom Python APF — particle weighting, ESS, systematic resampling.</a:t>
            </a:r>
          </a:p>
          <a:p>
            <a:pPr marL="246888" indent="-246888" algn="l">
              <a:spcAft>
                <a:spcPts val="300"/>
              </a:spcAft>
              <a:buAutoNum type="arabicPeriod" startAt="6"/>
            </a:pPr>
            <a:r>
              <a:rPr sz="1000" b="1">
                <a:solidFill>
                  <a:srgbClr val="2C3E50"/>
                </a:solidFill>
                <a:latin typeface="Arial"/>
              </a:rPr>
              <a:t>Evaluation: </a:t>
            </a:r>
            <a:r>
              <a:rPr sz="1000" b="0">
                <a:solidFill>
                  <a:srgbClr val="2C3E50"/>
                </a:solidFill>
                <a:latin typeface="Arial"/>
              </a:rPr>
              <a:t>scikit-learn / project scripts — metrics, threshold selection, baselines.</a:t>
            </a:r>
          </a:p>
          <a:p>
            <a:pPr marL="246888" indent="-246888" algn="l">
              <a:spcAft>
                <a:spcPts val="300"/>
              </a:spcAft>
              <a:buAutoNum type="arabicPeriod" startAt="6"/>
            </a:pPr>
            <a:r>
              <a:rPr sz="1000" b="1">
                <a:solidFill>
                  <a:srgbClr val="2C3E50"/>
                </a:solidFill>
                <a:latin typeface="Arial"/>
              </a:rPr>
              <a:t>Environment: </a:t>
            </a:r>
            <a:r>
              <a:rPr sz="1000" b="0">
                <a:solidFill>
                  <a:srgbClr val="2C3E50"/>
                </a:solidFill>
                <a:latin typeface="Arial"/>
              </a:rPr>
              <a:t>[Confirm: VS Code / Jupyter Notebook / Kaggle Notebook].</a:t>
            </a:r>
          </a:p>
          <a:p>
            <a:pPr marL="246888" indent="-246888" algn="l">
              <a:spcAft>
                <a:spcPts val="300"/>
              </a:spcAft>
              <a:buAutoNum type="arabicPeriod" startAt="6"/>
            </a:pPr>
            <a:r>
              <a:rPr sz="1000" b="1">
                <a:solidFill>
                  <a:srgbClr val="2C3E50"/>
                </a:solidFill>
                <a:latin typeface="Arial"/>
              </a:rPr>
              <a:t>Version control: </a:t>
            </a:r>
            <a:r>
              <a:rPr sz="1000" b="0">
                <a:solidFill>
                  <a:srgbClr val="2C3E50"/>
                </a:solidFill>
                <a:latin typeface="Arial"/>
              </a:rPr>
              <a:t>Git and GitHub.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22AIE301 PROBABILISTIC REASONING — FINAL PROJECT REVIEW</a:t>
            </a:r>
          </a:p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5. Core Artifact Demonstration &amp; Performance Visuals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22AIE301 Course Project Final Review Template  |  Slide 6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sz="1800" b="1">
                <a:solidFill>
                  <a:srgbClr val="1B2A4A"/>
                </a:solidFill>
                <a:latin typeface="Georgia"/>
              </a:rPr>
              <a:t>Primary Experimental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566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/>
          <a:lstStyle/>
          <a:p>
            <a:pPr algn="ctr">
              <a:spcAft>
                <a:spcPts val="1000"/>
              </a:spcAft>
              <a:defRPr sz="1600" b="1">
                <a:solidFill>
                  <a:srgbClr val="1B2A4A"/>
                </a:solidFill>
                <a:latin typeface="Georgia"/>
              </a:defRPr>
            </a:pPr>
            <a:r>
              <a:rPr sz="1600" b="1">
                <a:solidFill>
                  <a:srgbClr val="1B2A4A"/>
                </a:solidFill>
                <a:latin typeface="Georgia"/>
              </a:rPr>
              <a:t>Key Metrics &amp; Insights</a:t>
            </a:r>
          </a:p>
          <a:p>
            <a:pPr marL="155448" indent="-155448" algn="l">
              <a:spcAft>
                <a:spcPts val="200"/>
              </a:spcAft>
              <a:buChar char="•"/>
            </a:pPr>
            <a:r>
              <a:rPr sz="1050" b="1">
                <a:solidFill>
                  <a:srgbClr val="2C3E50"/>
                </a:solidFill>
                <a:latin typeface="Arial"/>
              </a:rPr>
              <a:t>ROC-AUC: </a:t>
            </a:r>
            <a:r>
              <a:rPr sz="1050" b="0">
                <a:solidFill>
                  <a:srgbClr val="2C3E50"/>
                </a:solidFill>
                <a:latin typeface="Arial"/>
              </a:rPr>
              <a:t>0.9054</a:t>
            </a:r>
          </a:p>
          <a:p>
            <a:pPr marL="155448" indent="-155448" algn="l">
              <a:spcAft>
                <a:spcPts val="200"/>
              </a:spcAft>
              <a:buChar char="•"/>
            </a:pPr>
            <a:r>
              <a:rPr sz="1050" b="1">
                <a:solidFill>
                  <a:srgbClr val="2C3E50"/>
                </a:solidFill>
                <a:latin typeface="Arial"/>
              </a:rPr>
              <a:t>PR-AUC: </a:t>
            </a:r>
            <a:r>
              <a:rPr sz="1050" b="0">
                <a:solidFill>
                  <a:srgbClr val="2C3E50"/>
                </a:solidFill>
                <a:latin typeface="Arial"/>
              </a:rPr>
              <a:t>0.5344</a:t>
            </a:r>
          </a:p>
          <a:p>
            <a:pPr marL="155448" indent="-155448" algn="l">
              <a:spcAft>
                <a:spcPts val="200"/>
              </a:spcAft>
              <a:buChar char="•"/>
            </a:pPr>
            <a:r>
              <a:rPr sz="1050" b="1">
                <a:solidFill>
                  <a:srgbClr val="2C3E50"/>
                </a:solidFill>
                <a:latin typeface="Arial"/>
              </a:rPr>
              <a:t>F1-score: </a:t>
            </a:r>
            <a:r>
              <a:rPr sz="1050" b="0">
                <a:solidFill>
                  <a:srgbClr val="2C3E50"/>
                </a:solidFill>
                <a:latin typeface="Arial"/>
              </a:rPr>
              <a:t>0.7568</a:t>
            </a:r>
          </a:p>
          <a:p>
            <a:pPr marL="155448" indent="-155448" algn="l">
              <a:spcAft>
                <a:spcPts val="200"/>
              </a:spcAft>
              <a:buChar char="•"/>
            </a:pPr>
            <a:r>
              <a:rPr sz="1050" b="1">
                <a:solidFill>
                  <a:srgbClr val="2C3E50"/>
                </a:solidFill>
                <a:latin typeface="Arial"/>
              </a:rPr>
              <a:t>Accuracy: </a:t>
            </a:r>
            <a:r>
              <a:rPr sz="1050" b="0">
                <a:solidFill>
                  <a:srgbClr val="2C3E50"/>
                </a:solidFill>
                <a:latin typeface="Arial"/>
              </a:rPr>
              <a:t>0.9694</a:t>
            </a:r>
          </a:p>
          <a:p>
            <a:pPr marL="155448" indent="-155448" algn="l">
              <a:spcAft>
                <a:spcPts val="200"/>
              </a:spcAft>
              <a:buChar char="•"/>
            </a:pPr>
            <a:r>
              <a:rPr sz="1050" b="1">
                <a:solidFill>
                  <a:srgbClr val="2C3E50"/>
                </a:solidFill>
                <a:latin typeface="Arial"/>
              </a:rPr>
              <a:t>Sensitivity: </a:t>
            </a:r>
            <a:r>
              <a:rPr sz="1050" b="0">
                <a:solidFill>
                  <a:srgbClr val="2C3E50"/>
                </a:solidFill>
                <a:latin typeface="Arial"/>
              </a:rPr>
              <a:t>0.7782</a:t>
            </a:r>
          </a:p>
          <a:p>
            <a:pPr marL="155448" indent="-155448" algn="l">
              <a:spcAft>
                <a:spcPts val="200"/>
              </a:spcAft>
              <a:buChar char="•"/>
            </a:pPr>
            <a:r>
              <a:rPr sz="1050" b="1">
                <a:solidFill>
                  <a:srgbClr val="2C3E50"/>
                </a:solidFill>
                <a:latin typeface="Arial"/>
              </a:rPr>
              <a:t>Specificity: </a:t>
            </a:r>
            <a:r>
              <a:rPr sz="1050" b="0">
                <a:solidFill>
                  <a:srgbClr val="2C3E50"/>
                </a:solidFill>
                <a:latin typeface="Arial"/>
              </a:rPr>
              <a:t>0.9818</a:t>
            </a:r>
          </a:p>
          <a:p>
            <a:pPr marL="155448" indent="-155448" algn="l">
              <a:spcAft>
                <a:spcPts val="200"/>
              </a:spcAft>
              <a:buChar char="•"/>
            </a:pPr>
            <a:r>
              <a:rPr sz="1050" b="1">
                <a:solidFill>
                  <a:srgbClr val="2C3E50"/>
                </a:solidFill>
                <a:latin typeface="Arial"/>
              </a:rPr>
              <a:t>Precision: </a:t>
            </a:r>
            <a:r>
              <a:rPr sz="1050" b="0">
                <a:solidFill>
                  <a:srgbClr val="2C3E50"/>
                </a:solidFill>
                <a:latin typeface="Arial"/>
              </a:rPr>
              <a:t>0.7367</a:t>
            </a:r>
          </a:p>
          <a:p>
            <a:pPr marL="155448" indent="-155448" algn="l">
              <a:spcAft>
                <a:spcPts val="200"/>
              </a:spcAft>
              <a:buChar char="•"/>
            </a:pPr>
            <a:r>
              <a:rPr sz="1050" b="1">
                <a:solidFill>
                  <a:srgbClr val="2C3E50"/>
                </a:solidFill>
                <a:latin typeface="Arial"/>
              </a:rPr>
              <a:t>Optimized threshold: </a:t>
            </a:r>
            <a:r>
              <a:rPr sz="1050" b="0">
                <a:solidFill>
                  <a:srgbClr val="2C3E50"/>
                </a:solidFill>
                <a:latin typeface="Arial"/>
              </a:rPr>
              <a:t>0.13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1">
                <a:solidFill>
                  <a:srgbClr val="1B2A4A"/>
                </a:solidFill>
                <a:latin typeface="Arial"/>
              </a:rPr>
              <a:t>Threshold optimization</a:t>
            </a:r>
          </a:p>
          <a:p>
            <a:pPr marL="155448" indent="-155448" algn="l">
              <a:spcAft>
                <a:spcPts val="200"/>
              </a:spcAft>
              <a:buChar char="•"/>
            </a:pPr>
            <a:r>
              <a:rPr sz="1050" b="0">
                <a:solidFill>
                  <a:srgbClr val="2C3E50"/>
                </a:solidFill>
                <a:latin typeface="Arial"/>
              </a:rPr>
              <a:t>Standard threshold: F1 = 0.262, sensitivity = 0.1725. After validation-based optimization: F1 = 0.7568, sensitivity = 0.7782.</a:t>
            </a:r>
          </a:p>
          <a:p>
            <a:pPr marL="155448" indent="-155448" algn="l">
              <a:spcAft>
                <a:spcPts val="200"/>
              </a:spcAft>
              <a:buChar char="•"/>
            </a:pPr>
            <a:r>
              <a:rPr sz="1050" b="0">
                <a:solidFill>
                  <a:srgbClr val="2C3E50"/>
                </a:solidFill>
                <a:latin typeface="Arial"/>
              </a:rPr>
              <a:t>Threshold selection changes the classification trade-off; it is not equivalent to retraining the model.</a:t>
            </a:r>
          </a:p>
          <a:p>
            <a:pPr marL="155448" indent="-155448" algn="l">
              <a:spcAft>
                <a:spcPts val="200"/>
              </a:spcAft>
              <a:buChar char="•"/>
            </a:pPr>
            <a:r>
              <a:rPr sz="1050" b="0">
                <a:solidFill>
                  <a:srgbClr val="2C3E50"/>
                </a:solidFill>
                <a:latin typeface="Arial"/>
              </a:rPr>
              <a:t>ROC-AUC summarizes ranking discrimination; PR-AUC summarizes the precision–recall trade-off and should be read relative to class prevalence.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68680" y="2240280"/>
          <a:ext cx="6583680" cy="3749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22AIE301 PROBABILISTIC REASONING — FINAL PROJECT REVIEW</a:t>
            </a:r>
          </a:p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6. Verification, Experimental Validation &amp; Progress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22AIE301 Course Project Final Review Template  |  Slide 7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sz="1800" b="1">
                <a:solidFill>
                  <a:srgbClr val="1B2A4A"/>
                </a:solidFill>
                <a:latin typeface="Georgia"/>
              </a:rPr>
              <a:t>Verification &amp; Validation Methodology</a:t>
            </a:r>
          </a:p>
          <a:p>
            <a:pPr marL="155448" indent="-155448" algn="l">
              <a:spcAft>
                <a:spcPts val="900"/>
              </a:spcAft>
              <a:buChar char="•"/>
            </a:pPr>
            <a:r>
              <a:rPr sz="1300" b="0">
                <a:solidFill>
                  <a:srgbClr val="2C3E50"/>
                </a:solidFill>
                <a:latin typeface="Arial"/>
              </a:rPr>
              <a:t>Use separate training, validation, and test data partitions.</a:t>
            </a:r>
          </a:p>
          <a:p>
            <a:pPr marL="155448" indent="-155448" algn="l">
              <a:spcAft>
                <a:spcPts val="900"/>
              </a:spcAft>
              <a:buChar char="•"/>
            </a:pPr>
            <a:r>
              <a:rPr sz="1300" b="0">
                <a:solidFill>
                  <a:srgbClr val="2C3E50"/>
                </a:solidFill>
                <a:latin typeface="Arial"/>
              </a:rPr>
              <a:t>Select the operating threshold on validation data, then report final performance on test data.</a:t>
            </a:r>
          </a:p>
          <a:p>
            <a:pPr marL="155448" indent="-155448" algn="l">
              <a:spcAft>
                <a:spcPts val="900"/>
              </a:spcAft>
              <a:buChar char="•"/>
            </a:pPr>
            <a:r>
              <a:rPr sz="1300" b="0">
                <a:solidFill>
                  <a:srgbClr val="2C3E50"/>
                </a:solidFill>
                <a:latin typeface="Arial"/>
              </a:rPr>
              <a:t>Compare the proposed model with conventional baselines using consistent test data, labels, and evaluation procedures.</a:t>
            </a:r>
          </a:p>
          <a:p>
            <a:pPr marL="155448" indent="-155448" algn="l">
              <a:spcAft>
                <a:spcPts val="900"/>
              </a:spcAft>
              <a:buChar char="•"/>
            </a:pPr>
            <a:r>
              <a:rPr sz="1300" b="0">
                <a:solidFill>
                  <a:srgbClr val="2C3E50"/>
                </a:solidFill>
                <a:latin typeface="Arial"/>
              </a:rPr>
              <a:t>Report ROC-AUC, PR-AUC, F1-score, accuracy, sensitivity, specificity, and precision.</a:t>
            </a:r>
          </a:p>
          <a:p>
            <a:pPr marL="155448" indent="-155448" algn="l">
              <a:spcAft>
                <a:spcPts val="900"/>
              </a:spcAft>
              <a:buChar char="•"/>
            </a:pPr>
            <a:r>
              <a:rPr sz="1300" b="0">
                <a:solidFill>
                  <a:srgbClr val="2C3E50"/>
                </a:solidFill>
                <a:latin typeface="Arial"/>
              </a:rPr>
              <a:t>Check that the test set was not used to choose the threshold or tune model parameters.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sz="1800" b="1">
                <a:solidFill>
                  <a:srgbClr val="1B2A4A"/>
                </a:solidFill>
                <a:latin typeface="Georgia"/>
              </a:rPr>
              <a:t>Progress vs Objectives &amp; Timeline</a:t>
            </a:r>
          </a:p>
          <a:p>
            <a:pPr marL="155448" indent="-155448" algn="l">
              <a:spcAft>
                <a:spcPts val="900"/>
              </a:spcAft>
              <a:buChar char="•"/>
            </a:pPr>
            <a:r>
              <a:rPr sz="1300" b="1">
                <a:solidFill>
                  <a:srgbClr val="2C3E50"/>
                </a:solidFill>
                <a:latin typeface="Arial"/>
              </a:rPr>
              <a:t>Objective 1 — Temporal embeddings: </a:t>
            </a:r>
            <a:r>
              <a:rPr sz="1300" b="0">
                <a:solidFill>
                  <a:srgbClr val="2C3E50"/>
                </a:solidFill>
                <a:latin typeface="Arial"/>
              </a:rPr>
              <a:t>Implemented in the project pipeline.</a:t>
            </a:r>
          </a:p>
          <a:p>
            <a:pPr marL="155448" indent="-155448" algn="l">
              <a:spcAft>
                <a:spcPts val="900"/>
              </a:spcAft>
              <a:buChar char="•"/>
            </a:pPr>
            <a:r>
              <a:rPr sz="1300" b="1">
                <a:solidFill>
                  <a:srgbClr val="2C3E50"/>
                </a:solidFill>
                <a:latin typeface="Arial"/>
              </a:rPr>
              <a:t>Objective 2 — Four-state Bayesian modelling: </a:t>
            </a:r>
            <a:r>
              <a:rPr sz="1300" b="0">
                <a:solidFill>
                  <a:srgbClr val="2C3E50"/>
                </a:solidFill>
                <a:latin typeface="Arial"/>
              </a:rPr>
              <a:t>State learner and DBN transition/emission artifacts generated.</a:t>
            </a:r>
          </a:p>
          <a:p>
            <a:pPr marL="155448" indent="-155448" algn="l">
              <a:spcAft>
                <a:spcPts val="900"/>
              </a:spcAft>
              <a:buChar char="•"/>
            </a:pPr>
            <a:r>
              <a:rPr sz="1300" b="1">
                <a:solidFill>
                  <a:srgbClr val="2C3E50"/>
                </a:solidFill>
                <a:latin typeface="Arial"/>
              </a:rPr>
              <a:t>Objective 3 — Sequential inference: </a:t>
            </a:r>
            <a:r>
              <a:rPr sz="1300" b="0">
                <a:solidFill>
                  <a:srgbClr val="2C3E50"/>
                </a:solidFill>
                <a:latin typeface="Arial"/>
              </a:rPr>
              <a:t>Adaptive Particle Filter implemented.</a:t>
            </a:r>
          </a:p>
          <a:p>
            <a:pPr marL="155448" indent="-155448" algn="l">
              <a:spcAft>
                <a:spcPts val="900"/>
              </a:spcAft>
              <a:buChar char="•"/>
            </a:pPr>
            <a:r>
              <a:rPr sz="1300" b="1">
                <a:solidFill>
                  <a:srgbClr val="2C3E50"/>
                </a:solidFill>
                <a:latin typeface="Arial"/>
              </a:rPr>
              <a:t>Objective 4 — Evaluation: </a:t>
            </a:r>
            <a:r>
              <a:rPr sz="1300" b="0">
                <a:solidFill>
                  <a:srgbClr val="2C3E50"/>
                </a:solidFill>
                <a:latin typeface="Arial"/>
              </a:rPr>
              <a:t>Threshold optimization and metric reporting completed.</a:t>
            </a:r>
          </a:p>
          <a:p>
            <a:pPr marL="155448" indent="-155448" algn="l">
              <a:spcAft>
                <a:spcPts val="900"/>
              </a:spcAft>
              <a:buChar char="•"/>
            </a:pPr>
            <a:r>
              <a:rPr sz="1300" b="1">
                <a:solidFill>
                  <a:srgbClr val="2C3E50"/>
                </a:solidFill>
                <a:latin typeface="Arial"/>
              </a:rPr>
              <a:t>Counterfactual intervention policy: </a:t>
            </a:r>
            <a:r>
              <a:rPr sz="1300" b="0">
                <a:solidFill>
                  <a:srgbClr val="2C3E50"/>
                </a:solidFill>
                <a:latin typeface="Arial"/>
              </a:rPr>
              <a:t>Proposed extension unless the action-conditioned transition model and evaluation are 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DESIGNATED CREDIT ALLOCATION SLIDE — 2.0 MARKS OUT OF 10</a:t>
            </a:r>
          </a:p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7. Final Track Deliverable &amp; Assessment Proof (Slide 8)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22AIE301 Course Project Final Review Template  |  Slide 8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8229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284C7"/>
                </a:solidFill>
                <a:latin typeface="Arial"/>
              </a:defRPr>
            </a:pPr>
            <a:r>
              <a:t>TRACK SELECTION DECLARATION (CHECK ONE):</a:t>
            </a:r>
          </a:p>
          <a:p>
            <a:pPr algn="ctr">
              <a:defRPr sz="1500" b="1">
                <a:solidFill>
                  <a:srgbClr val="D97706"/>
                </a:solidFill>
                <a:latin typeface="Georgia"/>
              </a:defRPr>
            </a:pPr>
            <a:r>
              <a:t>[  ] TRACK I: INDUSTRY PRODUCT &amp; VERIFICATION      |      [X] TRACK II: JOURNAL / CONFERENCE PAPER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000"/>
              </a:spcAft>
              <a:defRPr sz="1600" b="1">
                <a:solidFill>
                  <a:srgbClr val="1B2A4A"/>
                </a:solidFill>
                <a:latin typeface="Georgia"/>
              </a:defRPr>
            </a:pPr>
            <a:r>
              <a:rPr sz="1500" b="1">
                <a:solidFill>
                  <a:srgbClr val="1B2A4A"/>
                </a:solidFill>
                <a:latin typeface="Georgia"/>
              </a:rPr>
              <a:t>TRACK II — PUBLICATION PAPER PROGRESS</a:t>
            </a:r>
          </a:p>
          <a:p>
            <a:pPr marL="155448" indent="-155448" algn="l">
              <a:spcAft>
                <a:spcPts val="600"/>
              </a:spcAft>
              <a:buChar char="•"/>
            </a:pPr>
            <a:r>
              <a:rPr sz="1200" b="1">
                <a:solidFill>
                  <a:srgbClr val="2C3E50"/>
                </a:solidFill>
                <a:latin typeface="Arial"/>
              </a:rPr>
              <a:t>Research focus: </a:t>
            </a:r>
            <a:r>
              <a:rPr sz="1200" b="0">
                <a:solidFill>
                  <a:srgbClr val="2C3E50"/>
                </a:solidFill>
                <a:latin typeface="Arial"/>
              </a:rPr>
              <a:t>Probabilistic early sepsis-risk estimation using temporal deep representations and sequential Bayesian inference.</a:t>
            </a:r>
          </a:p>
          <a:p>
            <a:pPr marL="155448" indent="-155448" algn="l">
              <a:spcAft>
                <a:spcPts val="600"/>
              </a:spcAft>
              <a:buChar char="•"/>
            </a:pPr>
            <a:r>
              <a:rPr sz="1200" b="1">
                <a:solidFill>
                  <a:srgbClr val="2C3E50"/>
                </a:solidFill>
                <a:latin typeface="Arial"/>
              </a:rPr>
              <a:t>Core method: </a:t>
            </a:r>
            <a:r>
              <a:rPr sz="1200" b="0">
                <a:solidFill>
                  <a:srgbClr val="2C3E50"/>
                </a:solidFill>
                <a:latin typeface="Arial"/>
              </a:rPr>
              <a:t>TA-BiLSTM + four-state DBN + Adaptive Particle Filter.</a:t>
            </a:r>
          </a:p>
          <a:p>
            <a:pPr marL="155448" indent="-155448" algn="l">
              <a:spcAft>
                <a:spcPts val="600"/>
              </a:spcAft>
              <a:buChar char="•"/>
            </a:pPr>
            <a:r>
              <a:rPr sz="1200" b="1">
                <a:solidFill>
                  <a:srgbClr val="2C3E50"/>
                </a:solidFill>
                <a:latin typeface="Arial"/>
              </a:rPr>
              <a:t>Experimental evidence: </a:t>
            </a:r>
            <a:r>
              <a:rPr sz="1200" b="0">
                <a:solidFill>
                  <a:srgbClr val="2C3E50"/>
                </a:solidFill>
                <a:latin typeface="Arial"/>
              </a:rPr>
              <a:t>Test metrics and baseline comparisons are available in the project results files.</a:t>
            </a:r>
          </a:p>
          <a:p>
            <a:pPr marL="155448" indent="-155448" algn="l">
              <a:spcAft>
                <a:spcPts val="600"/>
              </a:spcAft>
              <a:buChar char="•"/>
            </a:pPr>
            <a:r>
              <a:rPr sz="1200" b="1">
                <a:solidFill>
                  <a:srgbClr val="2C3E50"/>
                </a:solidFill>
                <a:latin typeface="Arial"/>
              </a:rPr>
              <a:t>Manuscript components to prepare: </a:t>
            </a:r>
            <a:r>
              <a:rPr sz="1200" b="0">
                <a:solidFill>
                  <a:srgbClr val="2C3E50"/>
                </a:solidFill>
                <a:latin typeface="Arial"/>
              </a:rPr>
              <a:t>Abstract, Introduction, Related Work, Methodology, Dataset and Preprocessing, Experiments, Results, Discussion, Limitations, Conclusion, and References.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265176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000"/>
              </a:spcAft>
              <a:defRPr sz="1600" b="1">
                <a:solidFill>
                  <a:srgbClr val="1B2A4A"/>
                </a:solidFill>
                <a:latin typeface="Georgia"/>
              </a:defRPr>
            </a:pPr>
            <a:r>
              <a:rPr sz="1500" b="1">
                <a:solidFill>
                  <a:srgbClr val="1B2A4A"/>
                </a:solidFill>
                <a:latin typeface="Georgia"/>
              </a:rPr>
              <a:t>EVIDENCE &amp; CLAIMS DISCIPLINE</a:t>
            </a:r>
          </a:p>
          <a:p>
            <a:pPr marL="155448" indent="-155448" algn="l">
              <a:spcAft>
                <a:spcPts val="1200"/>
              </a:spcAft>
              <a:buChar char="•"/>
            </a:pPr>
            <a:r>
              <a:rPr sz="1300" b="1">
                <a:solidFill>
                  <a:srgbClr val="2C3E50"/>
                </a:solidFill>
                <a:latin typeface="Arial"/>
              </a:rPr>
              <a:t>Evidence to attach: </a:t>
            </a:r>
            <a:r>
              <a:rPr sz="1300" b="0">
                <a:solidFill>
                  <a:srgbClr val="2C3E50"/>
                </a:solidFill>
                <a:latin typeface="Arial"/>
              </a:rPr>
              <a:t>Final comparison table, ROC/PR plots, threshold results, and reproducible scripts.</a:t>
            </a:r>
          </a:p>
          <a:p>
            <a:pPr marL="155448" indent="-155448" algn="l">
              <a:spcAft>
                <a:spcPts val="1200"/>
              </a:spcAft>
              <a:buChar char="•"/>
            </a:pPr>
            <a:r>
              <a:rPr sz="1300" b="1">
                <a:solidFill>
                  <a:srgbClr val="2C3E50"/>
                </a:solidFill>
                <a:latin typeface="Arial"/>
              </a:rPr>
              <a:t>Not claimed: </a:t>
            </a:r>
            <a:r>
              <a:rPr sz="1300" b="0">
                <a:solidFill>
                  <a:srgbClr val="2C3E50"/>
                </a:solidFill>
                <a:latin typeface="Arial"/>
              </a:rPr>
              <a:t>Publication acceptance or completed counterfactual experiments, unless documented evidence exists.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22AIE301 PROBABILISTIC REASONING — FINAL PROJECT REVIEW</a:t>
            </a:r>
          </a:p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8. Conclusion, Repository Deliverables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22AIE301 Course Project Final Review Template  |  Slide 9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sz="1600" b="1">
                <a:solidFill>
                  <a:srgbClr val="1B2A4A"/>
                </a:solidFill>
                <a:latin typeface="Georgia"/>
              </a:rPr>
              <a:t>Conclusion &amp; Reported Results</a:t>
            </a:r>
          </a:p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1300" b="1">
                <a:solidFill>
                  <a:srgbClr val="1B2A4A"/>
                </a:solidFill>
                <a:latin typeface="Arial"/>
              </a:rPr>
              <a:t>Conclusion</a:t>
            </a:r>
          </a:p>
          <a:p>
            <a:pPr marL="155448" indent="-155448" algn="l">
              <a:spcAft>
                <a:spcPts val="800"/>
              </a:spcAft>
              <a:buChar char="•"/>
            </a:pPr>
            <a:r>
              <a:rPr sz="1200" b="0">
                <a:solidFill>
                  <a:srgbClr val="2C3E50"/>
                </a:solidFill>
                <a:latin typeface="Arial"/>
              </a:rPr>
              <a:t>The project combines temporal representation learning with explicit Bayesian state modeling and particle-filter-based sequential inference for early sepsis-risk estimation. The model is designed to update its risk estimate as new ICU observations become available and to represent uncertainty in the patient’s evolving condition.</a:t>
            </a:r>
          </a:p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1300" b="1">
                <a:solidFill>
                  <a:srgbClr val="1B2A4A"/>
                </a:solidFill>
                <a:latin typeface="Arial"/>
              </a:rPr>
              <a:t>Reported results (test set, validation-selected threshold 0.13)</a:t>
            </a:r>
          </a:p>
          <a:p>
            <a:pPr marL="155448" indent="-155448" algn="l">
              <a:spcAft>
                <a:spcPts val="800"/>
              </a:spcAft>
              <a:buChar char="•"/>
            </a:pPr>
            <a:r>
              <a:rPr sz="1200" b="1">
                <a:solidFill>
                  <a:srgbClr val="2C3E50"/>
                </a:solidFill>
                <a:latin typeface="Arial"/>
              </a:rPr>
              <a:t>ROC-AUC </a:t>
            </a:r>
            <a:r>
              <a:rPr sz="1200" b="0">
                <a:solidFill>
                  <a:srgbClr val="2C3E50"/>
                </a:solidFill>
                <a:latin typeface="Arial"/>
              </a:rPr>
              <a:t>0.9054  •  PR-AUC 0.5344  •  F1-score 0.7568</a:t>
            </a:r>
          </a:p>
          <a:p>
            <a:pPr marL="155448" indent="-155448" algn="l">
              <a:spcAft>
                <a:spcPts val="800"/>
              </a:spcAft>
              <a:buChar char="•"/>
            </a:pPr>
            <a:r>
              <a:rPr sz="1200" b="1">
                <a:solidFill>
                  <a:srgbClr val="2C3E50"/>
                </a:solidFill>
                <a:latin typeface="Arial"/>
              </a:rPr>
              <a:t>Accuracy </a:t>
            </a:r>
            <a:r>
              <a:rPr sz="1200" b="0">
                <a:solidFill>
                  <a:srgbClr val="2C3E50"/>
                </a:solidFill>
                <a:latin typeface="Arial"/>
              </a:rPr>
              <a:t>0.9694  •  Sensitivity 0.7782</a:t>
            </a:r>
          </a:p>
          <a:p>
            <a:pPr marL="155448" indent="-155448" algn="l">
              <a:spcAft>
                <a:spcPts val="800"/>
              </a:spcAft>
              <a:buChar char="•"/>
            </a:pPr>
            <a:r>
              <a:rPr sz="1200" b="1">
                <a:solidFill>
                  <a:srgbClr val="2C3E50"/>
                </a:solidFill>
                <a:latin typeface="Arial"/>
              </a:rPr>
              <a:t>Specificity </a:t>
            </a:r>
            <a:r>
              <a:rPr sz="1200" b="0">
                <a:solidFill>
                  <a:srgbClr val="2C3E50"/>
                </a:solidFill>
                <a:latin typeface="Arial"/>
              </a:rPr>
              <a:t>0.9818  •  Precision 0.7367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t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sz="1600" b="1" dirty="0">
                <a:solidFill>
                  <a:srgbClr val="1B2A4A"/>
                </a:solidFill>
                <a:latin typeface="Georgia"/>
              </a:rPr>
              <a:t>GitHub Repository &amp; Future Scope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50" b="1" dirty="0">
                <a:solidFill>
                  <a:srgbClr val="1B2A4A"/>
                </a:solidFill>
                <a:latin typeface="Arial"/>
              </a:rPr>
              <a:t>GitHub repository</a:t>
            </a:r>
          </a:p>
          <a:p>
            <a:pPr>
              <a:spcAft>
                <a:spcPts val="300"/>
              </a:spcAft>
            </a:pPr>
            <a:r>
              <a:rPr sz="1150" b="1" dirty="0">
                <a:solidFill>
                  <a:srgbClr val="2C3E50"/>
                </a:solidFill>
                <a:latin typeface="Arial"/>
              </a:rPr>
              <a:t>Repository URL: </a:t>
            </a:r>
            <a:r>
              <a:rPr lang="en-IN" sz="1150" b="1" dirty="0">
                <a:solidFill>
                  <a:srgbClr val="2C3E50"/>
                </a:solidFill>
                <a:latin typeface="Arial"/>
                <a:hlinkClick r:id="rId2"/>
              </a:rPr>
              <a:t>https://github.com/vemulapoorna/sepsis-prediction-hybrid-model</a:t>
            </a:r>
            <a:endParaRPr lang="en-IN" sz="1150" b="1" dirty="0">
              <a:solidFill>
                <a:srgbClr val="2C3E50"/>
              </a:solidFill>
              <a:latin typeface="Arial"/>
            </a:endParaRPr>
          </a:p>
          <a:p>
            <a:pPr>
              <a:spcAft>
                <a:spcPts val="300"/>
              </a:spcAft>
            </a:pPr>
            <a:r>
              <a:rPr lang="en-US" sz="1100" b="0" dirty="0">
                <a:solidFill>
                  <a:srgbClr val="2C3E50"/>
                </a:solidFill>
                <a:latin typeface="Arial"/>
              </a:rPr>
              <a:t>Source code, setup instructions, preprocessing scripts, model configuration, evaluation scripts, and reproducible result artifacts.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50" b="1" dirty="0">
                <a:solidFill>
                  <a:srgbClr val="1B2A4A"/>
                </a:solidFill>
                <a:latin typeface="Arial"/>
              </a:rPr>
              <a:t>Future scope</a:t>
            </a:r>
          </a:p>
          <a:p>
            <a:pPr marL="155448" indent="-155448">
              <a:spcAft>
                <a:spcPts val="300"/>
              </a:spcAft>
              <a:buChar char="•"/>
            </a:pPr>
            <a:r>
              <a:rPr sz="1100" b="0" dirty="0">
                <a:solidFill>
                  <a:srgbClr val="2C3E50"/>
                </a:solidFill>
                <a:latin typeface="Arial"/>
              </a:rPr>
              <a:t>Validate on an independent cohort and assess calibration.</a:t>
            </a:r>
          </a:p>
          <a:p>
            <a:pPr marL="155448" indent="-155448">
              <a:spcAft>
                <a:spcPts val="300"/>
              </a:spcAft>
              <a:buChar char="•"/>
            </a:pPr>
            <a:r>
              <a:rPr sz="1100" b="0" dirty="0">
                <a:solidFill>
                  <a:srgbClr val="2C3E50"/>
                </a:solidFill>
                <a:latin typeface="Arial"/>
              </a:rPr>
              <a:t>Test robustness to missing data and distribution shift.</a:t>
            </a:r>
          </a:p>
          <a:p>
            <a:pPr marL="155448" indent="-155448">
              <a:spcAft>
                <a:spcPts val="300"/>
              </a:spcAft>
              <a:buChar char="•"/>
            </a:pPr>
            <a:r>
              <a:rPr sz="1100" b="0" dirty="0">
                <a:solidFill>
                  <a:srgbClr val="2C3E50"/>
                </a:solidFill>
                <a:latin typeface="Arial"/>
              </a:rPr>
              <a:t>Report confidence intervals and statistical comparisons.</a:t>
            </a:r>
          </a:p>
          <a:p>
            <a:pPr marL="155448" indent="-155448">
              <a:spcAft>
                <a:spcPts val="300"/>
              </a:spcAft>
              <a:buChar char="•"/>
            </a:pPr>
            <a:r>
              <a:rPr sz="1100" b="0" dirty="0">
                <a:solidFill>
                  <a:srgbClr val="2C3E50"/>
                </a:solidFill>
                <a:latin typeface="Arial"/>
              </a:rPr>
              <a:t>Explore explainability and carefully validated action-conditioned counterfactuals as future work.</a:t>
            </a:r>
          </a:p>
          <a:p>
            <a:pPr marL="155448" indent="-155448">
              <a:spcAft>
                <a:spcPts val="300"/>
              </a:spcAft>
              <a:buChar char="•"/>
            </a:pPr>
            <a:r>
              <a:rPr sz="1100" b="0" dirty="0">
                <a:solidFill>
                  <a:srgbClr val="2C3E50"/>
                </a:solidFill>
                <a:latin typeface="Arial"/>
              </a:rPr>
              <a:t>Consult clinical experts before considering any real-world 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22AIE301 PROBABILISTIC REASONING — FINAL PROJECT REVIEW</a:t>
            </a:r>
          </a:p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9. Digitally Verifiable Literature &amp; Software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22AIE301 Course Project Final Review Template  |  Slide 10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sz="1800" b="1">
                <a:solidFill>
                  <a:srgbClr val="1B2A4A"/>
                </a:solidFill>
                <a:latin typeface="Georgia"/>
              </a:rPr>
              <a:t>Academic &amp; Technical Citations</a:t>
            </a:r>
          </a:p>
          <a:p>
            <a:pPr marL="274320" indent="-274320" algn="l">
              <a:spcAft>
                <a:spcPts val="600"/>
              </a:spcAft>
              <a:buAutoNum type="arabicPeriod"/>
            </a:pPr>
            <a:r>
              <a:rPr sz="1100" b="0">
                <a:solidFill>
                  <a:srgbClr val="2C3E50"/>
                </a:solidFill>
                <a:latin typeface="Arial"/>
              </a:rPr>
              <a:t>Koller, D., &amp; Friedman, N. (2009). Probabilistic Graphical Models: Principles and Techniques. MIT Press.</a:t>
            </a:r>
          </a:p>
          <a:p>
            <a:pPr marL="274320" indent="-274320" algn="l">
              <a:spcAft>
                <a:spcPts val="600"/>
              </a:spcAft>
              <a:buAutoNum type="arabicPeriod"/>
            </a:pPr>
            <a:r>
              <a:rPr sz="1100" b="0">
                <a:solidFill>
                  <a:srgbClr val="2C3E50"/>
                </a:solidFill>
                <a:latin typeface="Arial"/>
              </a:rPr>
              <a:t>Nachimuthu, S. K., &amp; Haug, P. J. (2012). Early Detection of Sepsis in the Emergency Department using Dynamic Bayesian Networks. AMIA Annual Symposium Proceedings, 2012, 653–662. https://pmc.ncbi.nlm.nih.gov/articles/PMC3540576/</a:t>
            </a:r>
          </a:p>
          <a:p>
            <a:pPr marL="274320" indent="-274320" algn="l">
              <a:spcAft>
                <a:spcPts val="600"/>
              </a:spcAft>
              <a:buAutoNum type="arabicPeriod"/>
            </a:pPr>
            <a:r>
              <a:rPr sz="1100" b="0">
                <a:solidFill>
                  <a:srgbClr val="2C3E50"/>
                </a:solidFill>
                <a:latin typeface="Arial"/>
              </a:rPr>
              <a:t>Wang, T., Velez, T., Apostolova, E., Tschampel, T., Ngo, T. L., &amp; Hardison, J. (2018). Semantically Enhanced Dynamic Bayesian Network for Detecting Sepsis Mortality Risk in ICU Patients with Infection. arXiv:1806.10174. https://arxiv.org/abs/1806.10174</a:t>
            </a:r>
          </a:p>
          <a:p>
            <a:pPr marL="274320" indent="-274320" algn="l">
              <a:spcAft>
                <a:spcPts val="600"/>
              </a:spcAft>
              <a:buAutoNum type="arabicPeriod"/>
            </a:pPr>
            <a:r>
              <a:rPr sz="1100" b="0">
                <a:solidFill>
                  <a:srgbClr val="2C3E50"/>
                </a:solidFill>
                <a:latin typeface="Arial"/>
              </a:rPr>
              <a:t>An attention-based bidirectional LSTM-CNN architecture for the early prediction of sepsis. International Journal of Data Science and Analytics, Springer Nature, 2024. https://link.springer.com/article/10.1007/s41060-024-00568-z</a:t>
            </a:r>
          </a:p>
          <a:p>
            <a:pPr marL="274320" indent="-274320" algn="l">
              <a:spcAft>
                <a:spcPts val="600"/>
              </a:spcAft>
              <a:buAutoNum type="arabicPeriod"/>
            </a:pPr>
            <a:r>
              <a:rPr sz="1100" b="0">
                <a:solidFill>
                  <a:srgbClr val="2C3E50"/>
                </a:solidFill>
                <a:latin typeface="Arial"/>
              </a:rPr>
              <a:t>Explainable deep learning for early sepsis detection from ICU time-series data using XAI techniques. Scientific Reports, 2026. https://www.nature.com/articles/s41598-026-61652-x</a:t>
            </a:r>
          </a:p>
          <a:p>
            <a:pPr marL="274320" indent="-274320" algn="l">
              <a:spcAft>
                <a:spcPts val="600"/>
              </a:spcAft>
              <a:buAutoNum type="arabicPeriod"/>
            </a:pPr>
            <a:r>
              <a:rPr sz="1100" b="0">
                <a:solidFill>
                  <a:srgbClr val="2C3E50"/>
                </a:solidFill>
                <a:latin typeface="Arial"/>
              </a:rPr>
              <a:t>An interpretable deep-learning model for early prediction of sepsis in the emergency department. ScienceDirect, 2021. https://www.sciencedirect.com/science/article/pii/S266638992030266X</a:t>
            </a:r>
          </a:p>
          <a:p>
            <a:pPr marL="274320" indent="-274320" algn="l">
              <a:spcAft>
                <a:spcPts val="600"/>
              </a:spcAft>
              <a:buAutoNum type="arabicPeriod"/>
            </a:pPr>
            <a:r>
              <a:rPr sz="1100" b="0">
                <a:solidFill>
                  <a:srgbClr val="2C3E50"/>
                </a:solidFill>
                <a:latin typeface="Arial"/>
              </a:rPr>
              <a:t>Dataset: PhysioNet/Computing in Cardiology Challenge 2019 Sepsis Dataset. Reyna, M. A., et al. (2020). Early Prediction of Sepsis From Clinical Data: The PhysioNet/Computing in Cardiology Challenge 2019. Critical Care Medicine, 48(2), 210–217. https://physionet.org/content/challenge-2019/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Unknown Document Type" ma:contentTypeID="0x010104" ma:contentTypeVersion="0" ma:contentTypeDescription="" ma:contentTypeScope="" ma:versionID="05d83ceaa0bbd2e3bc716e6e66bd857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3d69fe45253d5ff147bb69036b756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FCB3382-8628-4069-816F-100E7A7242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10944C-BA5E-442C-BAF4-7425112134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A151DA3-20A4-496B-89F8-E813D9FA3BF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2270</Words>
  <Application>Microsoft Office PowerPoint</Application>
  <PresentationFormat>Widescreen</PresentationFormat>
  <Paragraphs>187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Poorna</dc:creator>
  <cp:keywords/>
  <dc:description>generated using python-pptx</dc:description>
  <cp:lastModifiedBy>Vemula Poorna Chandra</cp:lastModifiedBy>
  <cp:revision>5</cp:revision>
  <dcterms:created xsi:type="dcterms:W3CDTF">2013-01-27T09:14:16Z</dcterms:created>
  <dcterms:modified xsi:type="dcterms:W3CDTF">2026-10-22T11:59:31Z</dcterms:modified>
  <cp:category/>
</cp:coreProperties>
</file>